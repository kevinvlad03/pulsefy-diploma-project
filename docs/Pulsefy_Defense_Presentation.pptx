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I'm Vlad Dumitru, and I'm presenting Pulsefy, an AI-assisted ad creation platform built as my diploma project under the guidance of Conf. dr. ing. Iuliana Marin.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Small businesses and solo creators need to advertise on TikTok, Reels, and Shorts at high frequency. The options are agency work, which costs thousands per campaign, stitching together four separate tools, which costs hours per ad, or skipping advertising entirely and losing visibility. There is a clear gap for a single, low-cost, fast tool.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Pulsefy bundles the four asset-creation stages behind a single account: scene image generation, background music generation, voiceover synthesis, and video assembly. The user enters a product brief and gets back a finished MP4 ready to upload to TikTok or Reels.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stage is backed by a dedicated AI subsystem. Pollinations.ai produces the scene images. MusicGen or a custom LSTM I trained handles the background music. gTTS synthesizes the voiceover. FFmpeg assembles everything into the final MP4 at the requested aspect ratio.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part of the project I'm most proud of is Pulsefy AI, a custom LSTM music generator I trained from scratch on a curated MIDI corpus. Building this rather than just plugging in an off-the-shelf model means the free tier of the platform never depends on a paid third-party service, and it required me to learn PyTorch, MIDI tokenisation, and sequence modelling end to end.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training corpus was 1,034 MIDI files parsed into 573,692 tokens. The model has roughly 908 thousand parameters across two LSTM layers with a 256-unit hidden dimension. Training ran for 30 epochs on Apple Metal acceleration, and the validation loss converged from approximately 0.51 to 0.43 within the first three epochs, confirming the model fits the dataset.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tier separation is honest rather than feature-gated. Free users get Pulsefy AI, which is instant but acoustically simpler. Premium users get Meta's MusicGen, which produces higher-quality output but takes minutes per request and unlocks non-English voiceover. Both engines are real options. The free tier is not a teaser.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Sound Studio, the single authoring surface. Four tabs — Music, Voiceover, Video, and Upload — mirror the four AI subsystems. Users move through them at their own pace, can pick a Jamendo Creative Commons track instead of generating one, and can upload their own video for the audio-overlay path.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benchmarked the platform on a Mac M2 Pro across three Instagram Reel scenarios, each with a different product theme. The free-tier pipeline finishes a complete ad in about three minutes — roughly one hundred and fifty times faster than the eight-hour manual baseline. The premium tier finishes in nine minutes, slower because MusicGen takes the bulk of the time, but still over fifty times faster than the manual path.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Architecturally, Pulsefy is a thin Express server backed by PostgreSQL. The heavy work happens in spawned subprocesses: Python for MusicGen, Pulsefy AI, and gTTS, plus FFmpeg for video. External APIs cover image generation through Pollinations.ai and the licensed music catalog through Jamendo. This keeps the web tier responsive while the generations run in the background.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concrete next steps: GPU-backed inference to remove the MusicGen latency bottleneck; a larger validation study with at least twenty listeners and a quality metric like Fréchet Audio Distance; a mobile-responsive layout; real payment processing; and expanded training data for Pulsefy AI beyond folk music. Each of these is achievable in a few weeks of focused work.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attention. I'm happy to answer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3108960"/>
            <a:ext cx="12191695" cy="365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194560"/>
            <a:ext cx="10332720" cy="914400"/>
          </a:xfrm>
          <a:prstGeom prst="rect">
            <a:avLst/>
          </a:prstGeom>
          <a:noFill/>
        </p:spPr>
        <p:txBody>
          <a:bodyPr wrap="square" anchor="t">
            <a:spAutoFit/>
          </a:bodyPr>
          <a:lstStyle/>
          <a:p>
            <a:pPr algn="l"/>
            <a:r>
              <a:rPr sz="7200" b="1" i="0">
                <a:solidFill>
                  <a:srgbClr val="0F172A"/>
                </a:solidFill>
                <a:latin typeface="Calibri"/>
              </a:rPr>
              <a:t>Pulsefy</a:t>
            </a:r>
          </a:p>
        </p:txBody>
      </p:sp>
      <p:sp>
        <p:nvSpPr>
          <p:cNvPr id="4" name="TextBox 3"/>
          <p:cNvSpPr txBox="1"/>
          <p:nvPr/>
        </p:nvSpPr>
        <p:spPr>
          <a:xfrm>
            <a:off x="914400" y="3291840"/>
            <a:ext cx="10332720" cy="640080"/>
          </a:xfrm>
          <a:prstGeom prst="rect">
            <a:avLst/>
          </a:prstGeom>
          <a:noFill/>
        </p:spPr>
        <p:txBody>
          <a:bodyPr wrap="square" anchor="t">
            <a:spAutoFit/>
          </a:bodyPr>
          <a:lstStyle/>
          <a:p>
            <a:pPr algn="l"/>
            <a:r>
              <a:rPr sz="2200" b="0" i="0">
                <a:solidFill>
                  <a:srgbClr val="64748B"/>
                </a:solidFill>
                <a:latin typeface="Calibri"/>
              </a:rPr>
              <a:t>AI-Assisted Ad Creation Platform for Short-Form Social Video</a:t>
            </a:r>
          </a:p>
        </p:txBody>
      </p:sp>
      <p:sp>
        <p:nvSpPr>
          <p:cNvPr id="5" name="TextBox 4"/>
          <p:cNvSpPr txBox="1"/>
          <p:nvPr/>
        </p:nvSpPr>
        <p:spPr>
          <a:xfrm>
            <a:off x="914400" y="5120640"/>
            <a:ext cx="5029200" cy="365760"/>
          </a:xfrm>
          <a:prstGeom prst="rect">
            <a:avLst/>
          </a:prstGeom>
          <a:noFill/>
        </p:spPr>
        <p:txBody>
          <a:bodyPr wrap="square" anchor="t">
            <a:spAutoFit/>
          </a:bodyPr>
          <a:lstStyle/>
          <a:p>
            <a:pPr algn="l"/>
            <a:r>
              <a:rPr sz="1600" b="1" i="0">
                <a:solidFill>
                  <a:srgbClr val="0F172A"/>
                </a:solidFill>
                <a:latin typeface="Calibri"/>
              </a:rPr>
              <a:t>Vlad DUMITRU</a:t>
            </a:r>
          </a:p>
        </p:txBody>
      </p:sp>
      <p:sp>
        <p:nvSpPr>
          <p:cNvPr id="6" name="TextBox 5"/>
          <p:cNvSpPr txBox="1"/>
          <p:nvPr/>
        </p:nvSpPr>
        <p:spPr>
          <a:xfrm>
            <a:off x="914400" y="5486400"/>
            <a:ext cx="5029200" cy="365760"/>
          </a:xfrm>
          <a:prstGeom prst="rect">
            <a:avLst/>
          </a:prstGeom>
          <a:noFill/>
        </p:spPr>
        <p:txBody>
          <a:bodyPr wrap="square" anchor="t">
            <a:spAutoFit/>
          </a:bodyPr>
          <a:lstStyle/>
          <a:p>
            <a:pPr algn="l"/>
            <a:r>
              <a:rPr sz="1300" b="0" i="0">
                <a:solidFill>
                  <a:srgbClr val="64748B"/>
                </a:solidFill>
                <a:latin typeface="Calibri"/>
              </a:rPr>
              <a:t>Diploma project, June 2026</a:t>
            </a:r>
          </a:p>
        </p:txBody>
      </p:sp>
      <p:sp>
        <p:nvSpPr>
          <p:cNvPr id="7" name="TextBox 6"/>
          <p:cNvSpPr txBox="1"/>
          <p:nvPr/>
        </p:nvSpPr>
        <p:spPr>
          <a:xfrm>
            <a:off x="7132320" y="5120640"/>
            <a:ext cx="4206240" cy="365760"/>
          </a:xfrm>
          <a:prstGeom prst="rect">
            <a:avLst/>
          </a:prstGeom>
          <a:noFill/>
        </p:spPr>
        <p:txBody>
          <a:bodyPr wrap="square" anchor="t">
            <a:spAutoFit/>
          </a:bodyPr>
          <a:lstStyle/>
          <a:p>
            <a:pPr algn="r"/>
            <a:r>
              <a:rPr sz="1200" b="0" i="0">
                <a:solidFill>
                  <a:srgbClr val="64748B"/>
                </a:solidFill>
                <a:latin typeface="Calibri"/>
              </a:rPr>
              <a:t>Coordinator</a:t>
            </a:r>
          </a:p>
        </p:txBody>
      </p:sp>
      <p:sp>
        <p:nvSpPr>
          <p:cNvPr id="8" name="TextBox 7"/>
          <p:cNvSpPr txBox="1"/>
          <p:nvPr/>
        </p:nvSpPr>
        <p:spPr>
          <a:xfrm>
            <a:off x="7132320" y="5394960"/>
            <a:ext cx="4206240" cy="365760"/>
          </a:xfrm>
          <a:prstGeom prst="rect">
            <a:avLst/>
          </a:prstGeom>
          <a:noFill/>
        </p:spPr>
        <p:txBody>
          <a:bodyPr wrap="square" anchor="t">
            <a:spAutoFit/>
          </a:bodyPr>
          <a:lstStyle/>
          <a:p>
            <a:pPr algn="r"/>
            <a:r>
              <a:rPr sz="1400" b="1" i="0">
                <a:solidFill>
                  <a:srgbClr val="0F172A"/>
                </a:solidFill>
                <a:latin typeface="Calibri"/>
              </a:rPr>
              <a:t>Conf. dr. ing. Iuliana MARIN</a:t>
            </a:r>
          </a:p>
        </p:txBody>
      </p:sp>
      <p:sp>
        <p:nvSpPr>
          <p:cNvPr id="9" name="TextBox 8"/>
          <p:cNvSpPr txBox="1"/>
          <p:nvPr/>
        </p:nvSpPr>
        <p:spPr>
          <a:xfrm>
            <a:off x="7132320" y="5760720"/>
            <a:ext cx="4206240" cy="365760"/>
          </a:xfrm>
          <a:prstGeom prst="rect">
            <a:avLst/>
          </a:prstGeom>
          <a:noFill/>
        </p:spPr>
        <p:txBody>
          <a:bodyPr wrap="square" anchor="t">
            <a:spAutoFit/>
          </a:bodyPr>
          <a:lstStyle/>
          <a:p>
            <a:pPr algn="r"/>
            <a:r>
              <a:rPr sz="1100" b="0" i="0">
                <a:solidFill>
                  <a:srgbClr val="64748B"/>
                </a:solidFill>
                <a:latin typeface="Calibri"/>
              </a:rPr>
              <a:t>Faculty of Engineering in Foreign Languages, UPB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0" y="822960"/>
            <a:ext cx="73152" cy="4572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10515600" cy="640080"/>
          </a:xfrm>
          <a:prstGeom prst="rect">
            <a:avLst/>
          </a:prstGeom>
          <a:noFill/>
        </p:spPr>
        <p:txBody>
          <a:bodyPr wrap="square" anchor="t">
            <a:spAutoFit/>
          </a:bodyPr>
          <a:lstStyle/>
          <a:p>
            <a:pPr algn="l"/>
            <a:r>
              <a:rPr sz="3200" b="1" i="0">
                <a:solidFill>
                  <a:srgbClr val="0F172A"/>
                </a:solidFill>
                <a:latin typeface="Calibri"/>
              </a:rPr>
              <a:t>Short-form social ads are expensive to produce</a:t>
            </a:r>
          </a:p>
        </p:txBody>
      </p:sp>
      <p:sp>
        <p:nvSpPr>
          <p:cNvPr id="4" name="TextBox 3"/>
          <p:cNvSpPr txBox="1"/>
          <p:nvPr/>
        </p:nvSpPr>
        <p:spPr>
          <a:xfrm>
            <a:off x="914400" y="2194560"/>
            <a:ext cx="10515600" cy="457200"/>
          </a:xfrm>
          <a:prstGeom prst="rect">
            <a:avLst/>
          </a:prstGeom>
          <a:noFill/>
        </p:spPr>
        <p:txBody>
          <a:bodyPr wrap="square" anchor="t">
            <a:spAutoFit/>
          </a:bodyPr>
          <a:lstStyle/>
          <a:p>
            <a:pPr algn="l"/>
            <a:r>
              <a:rPr sz="1800" b="0" i="1">
                <a:solidFill>
                  <a:srgbClr val="64748B"/>
                </a:solidFill>
                <a:latin typeface="Calibri"/>
              </a:rPr>
              <a:t>Three options, none of them good for solo creators:</a:t>
            </a:r>
          </a:p>
        </p:txBody>
      </p:sp>
      <p:sp>
        <p:nvSpPr>
          <p:cNvPr id="5" name="TextBox 4"/>
          <p:cNvSpPr txBox="1"/>
          <p:nvPr/>
        </p:nvSpPr>
        <p:spPr>
          <a:xfrm>
            <a:off x="914400" y="2926080"/>
            <a:ext cx="10515600" cy="548640"/>
          </a:xfrm>
          <a:prstGeom prst="rect">
            <a:avLst/>
          </a:prstGeom>
          <a:noFill/>
        </p:spPr>
        <p:txBody>
          <a:bodyPr wrap="square" anchor="t">
            <a:spAutoFit/>
          </a:bodyPr>
          <a:lstStyle/>
          <a:p>
            <a:pPr algn="l"/>
            <a:r>
              <a:rPr sz="2400" b="1" i="0">
                <a:solidFill>
                  <a:srgbClr val="7C3AED"/>
                </a:solidFill>
                <a:latin typeface="Calibri"/>
              </a:rPr>
              <a:t>Hire an agency</a:t>
            </a:r>
          </a:p>
          <a:p>
            <a:pPr algn="l"/>
            <a:r>
              <a:rPr sz="1800" b="0" i="0">
                <a:solidFill>
                  <a:srgbClr val="0F172A"/>
                </a:solidFill>
                <a:latin typeface="Calibri"/>
              </a:rPr>
              <a:t>    ~1,000–10,000 € per campaign</a:t>
            </a:r>
          </a:p>
        </p:txBody>
      </p:sp>
      <p:sp>
        <p:nvSpPr>
          <p:cNvPr id="6" name="TextBox 5"/>
          <p:cNvSpPr txBox="1"/>
          <p:nvPr/>
        </p:nvSpPr>
        <p:spPr>
          <a:xfrm>
            <a:off x="914400" y="3931920"/>
            <a:ext cx="10515600" cy="548640"/>
          </a:xfrm>
          <a:prstGeom prst="rect">
            <a:avLst/>
          </a:prstGeom>
          <a:noFill/>
        </p:spPr>
        <p:txBody>
          <a:bodyPr wrap="square" anchor="t">
            <a:spAutoFit/>
          </a:bodyPr>
          <a:lstStyle/>
          <a:p>
            <a:pPr algn="l"/>
            <a:r>
              <a:rPr sz="2400" b="1" i="0">
                <a:solidFill>
                  <a:srgbClr val="7C3AED"/>
                </a:solidFill>
                <a:latin typeface="Calibri"/>
              </a:rPr>
              <a:t>Stitch together four DIY tools</a:t>
            </a:r>
          </a:p>
          <a:p>
            <a:pPr algn="l"/>
            <a:r>
              <a:rPr sz="1800" b="0" i="0">
                <a:solidFill>
                  <a:srgbClr val="0F172A"/>
                </a:solidFill>
                <a:latin typeface="Calibri"/>
              </a:rPr>
              <a:t>    Canva + Suno + ElevenLabs + CapCut, four subscriptions, four interfaces</a:t>
            </a:r>
          </a:p>
        </p:txBody>
      </p:sp>
      <p:sp>
        <p:nvSpPr>
          <p:cNvPr id="7" name="TextBox 6"/>
          <p:cNvSpPr txBox="1"/>
          <p:nvPr/>
        </p:nvSpPr>
        <p:spPr>
          <a:xfrm>
            <a:off x="914400" y="4937760"/>
            <a:ext cx="10515600" cy="548640"/>
          </a:xfrm>
          <a:prstGeom prst="rect">
            <a:avLst/>
          </a:prstGeom>
          <a:noFill/>
        </p:spPr>
        <p:txBody>
          <a:bodyPr wrap="square" anchor="t">
            <a:spAutoFit/>
          </a:bodyPr>
          <a:lstStyle/>
          <a:p>
            <a:pPr algn="l"/>
            <a:r>
              <a:rPr sz="2400" b="1" i="0">
                <a:solidFill>
                  <a:srgbClr val="7C3AED"/>
                </a:solidFill>
                <a:latin typeface="Calibri"/>
              </a:rPr>
              <a:t>Skip advertising altogether</a:t>
            </a:r>
          </a:p>
          <a:p>
            <a:pPr algn="l"/>
            <a:r>
              <a:rPr sz="1800" b="0" i="0">
                <a:solidFill>
                  <a:srgbClr val="0F172A"/>
                </a:solidFill>
                <a:latin typeface="Calibri"/>
              </a:rPr>
              <a:t>    Lose visibility on platforms that reward consistent posting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377440"/>
            <a:ext cx="11247120" cy="1371600"/>
          </a:xfrm>
          <a:prstGeom prst="rect">
            <a:avLst/>
          </a:prstGeom>
          <a:noFill/>
        </p:spPr>
        <p:txBody>
          <a:bodyPr wrap="square" anchor="t">
            <a:spAutoFit/>
          </a:bodyPr>
          <a:lstStyle/>
          <a:p>
            <a:pPr algn="ctr"/>
            <a:r>
              <a:rPr sz="5400" b="1" i="0">
                <a:solidFill>
                  <a:srgbClr val="0F172A"/>
                </a:solidFill>
                <a:latin typeface="Calibri"/>
              </a:rPr>
              <a:t>One application.</a:t>
            </a:r>
          </a:p>
        </p:txBody>
      </p:sp>
      <p:sp>
        <p:nvSpPr>
          <p:cNvPr id="3" name="TextBox 2"/>
          <p:cNvSpPr txBox="1"/>
          <p:nvPr/>
        </p:nvSpPr>
        <p:spPr>
          <a:xfrm>
            <a:off x="457200" y="3291840"/>
            <a:ext cx="11247120" cy="1371600"/>
          </a:xfrm>
          <a:prstGeom prst="rect">
            <a:avLst/>
          </a:prstGeom>
          <a:noFill/>
        </p:spPr>
        <p:txBody>
          <a:bodyPr wrap="square" anchor="t">
            <a:spAutoFit/>
          </a:bodyPr>
          <a:lstStyle/>
          <a:p>
            <a:pPr algn="ctr"/>
            <a:r>
              <a:rPr sz="5400" b="1" i="0">
                <a:solidFill>
                  <a:srgbClr val="7C3AED"/>
                </a:solidFill>
                <a:latin typeface="Calibri"/>
              </a:rPr>
              <a:t>Four AI subsystems.</a:t>
            </a:r>
          </a:p>
        </p:txBody>
      </p:sp>
      <p:sp>
        <p:nvSpPr>
          <p:cNvPr id="4" name="TextBox 3"/>
          <p:cNvSpPr txBox="1"/>
          <p:nvPr/>
        </p:nvSpPr>
        <p:spPr>
          <a:xfrm>
            <a:off x="457200" y="4206240"/>
            <a:ext cx="11247120" cy="1371600"/>
          </a:xfrm>
          <a:prstGeom prst="rect">
            <a:avLst/>
          </a:prstGeom>
          <a:noFill/>
        </p:spPr>
        <p:txBody>
          <a:bodyPr wrap="square" anchor="t">
            <a:spAutoFit/>
          </a:bodyPr>
          <a:lstStyle/>
          <a:p>
            <a:pPr algn="ctr"/>
            <a:r>
              <a:rPr sz="5400" b="1" i="0">
                <a:solidFill>
                  <a:srgbClr val="0F172A"/>
                </a:solidFill>
                <a:latin typeface="Calibri"/>
              </a:rPr>
              <a:t>One finished ad.</a:t>
            </a:r>
          </a:p>
        </p:txBody>
      </p:sp>
      <p:sp>
        <p:nvSpPr>
          <p:cNvPr id="5" name="TextBox 4"/>
          <p:cNvSpPr txBox="1"/>
          <p:nvPr/>
        </p:nvSpPr>
        <p:spPr>
          <a:xfrm>
            <a:off x="457200" y="5852160"/>
            <a:ext cx="11247120" cy="457200"/>
          </a:xfrm>
          <a:prstGeom prst="rect">
            <a:avLst/>
          </a:prstGeom>
          <a:noFill/>
        </p:spPr>
        <p:txBody>
          <a:bodyPr wrap="square" anchor="t">
            <a:spAutoFit/>
          </a:bodyPr>
          <a:lstStyle/>
          <a:p>
            <a:pPr algn="ctr"/>
            <a:r>
              <a:rPr sz="1600" b="0" i="1">
                <a:solidFill>
                  <a:srgbClr val="64748B"/>
                </a:solidFill>
                <a:latin typeface="Calibri"/>
              </a:rPr>
              <a:t>Image generation, music generation, voiceover synthesis, video assembly.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0" y="822960"/>
            <a:ext cx="73152" cy="4572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10515600" cy="640080"/>
          </a:xfrm>
          <a:prstGeom prst="rect">
            <a:avLst/>
          </a:prstGeom>
          <a:noFill/>
        </p:spPr>
        <p:txBody>
          <a:bodyPr wrap="square" anchor="t">
            <a:spAutoFit/>
          </a:bodyPr>
          <a:lstStyle/>
          <a:p>
            <a:pPr algn="l"/>
            <a:r>
              <a:rPr sz="3000" b="1" i="0">
                <a:solidFill>
                  <a:srgbClr val="0F172A"/>
                </a:solidFill>
                <a:latin typeface="Calibri"/>
              </a:rPr>
              <a:t>Four AI subsystems behind one interface</a:t>
            </a:r>
          </a:p>
        </p:txBody>
      </p:sp>
      <p:sp>
        <p:nvSpPr>
          <p:cNvPr id="4" name="Rounded Rectangle 3"/>
          <p:cNvSpPr/>
          <p:nvPr/>
        </p:nvSpPr>
        <p:spPr>
          <a:xfrm>
            <a:off x="548640" y="2743200"/>
            <a:ext cx="1828800" cy="1371600"/>
          </a:xfrm>
          <a:prstGeom prst="roundRect">
            <a:avLst/>
          </a:prstGeom>
          <a:solidFill>
            <a:srgbClr val="F1F5F9"/>
          </a:solidFill>
          <a:ln w="15875">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172A"/>
                </a:solidFill>
              </a:rPr>
              <a:t>Product brief</a:t>
            </a:r>
          </a:p>
          <a:p>
            <a:pPr algn="ctr"/>
            <a:r>
              <a:rPr sz="1000" i="1">
                <a:solidFill>
                  <a:srgbClr val="64748B"/>
                </a:solidFill>
              </a:rPr>
              <a:t>name, style, ratio</a:t>
            </a:r>
          </a:p>
        </p:txBody>
      </p:sp>
      <p:sp>
        <p:nvSpPr>
          <p:cNvPr id="5" name="Rounded Rectangle 4"/>
          <p:cNvSpPr/>
          <p:nvPr/>
        </p:nvSpPr>
        <p:spPr>
          <a:xfrm>
            <a:off x="3108960" y="1554480"/>
            <a:ext cx="2926080" cy="1005840"/>
          </a:xfrm>
          <a:prstGeom prst="roundRect">
            <a:avLst/>
          </a:prstGeom>
          <a:solidFill>
            <a:srgbClr val="E9D5FF"/>
          </a:solidFill>
          <a:ln w="15875">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172A"/>
                </a:solidFill>
              </a:rPr>
              <a:t>Scene images</a:t>
            </a:r>
          </a:p>
          <a:p>
            <a:pPr algn="ctr"/>
            <a:r>
              <a:rPr sz="1000" i="1">
                <a:solidFill>
                  <a:srgbClr val="64748B"/>
                </a:solidFill>
              </a:rPr>
              <a:t>Pollinations.ai</a:t>
            </a:r>
          </a:p>
        </p:txBody>
      </p:sp>
      <p:sp>
        <p:nvSpPr>
          <p:cNvPr id="6" name="Rounded Rectangle 5"/>
          <p:cNvSpPr/>
          <p:nvPr/>
        </p:nvSpPr>
        <p:spPr>
          <a:xfrm>
            <a:off x="3108960" y="2743200"/>
            <a:ext cx="2926080" cy="1005840"/>
          </a:xfrm>
          <a:prstGeom prst="roundRect">
            <a:avLst/>
          </a:prstGeom>
          <a:solidFill>
            <a:srgbClr val="E9D5FF"/>
          </a:solidFill>
          <a:ln w="15875">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172A"/>
                </a:solidFill>
              </a:rPr>
              <a:t>Music</a:t>
            </a:r>
          </a:p>
          <a:p>
            <a:pPr algn="ctr"/>
            <a:r>
              <a:rPr sz="1000" i="1">
                <a:solidFill>
                  <a:srgbClr val="64748B"/>
                </a:solidFill>
              </a:rPr>
              <a:t>MusicGen / Pulsefy AI</a:t>
            </a:r>
          </a:p>
        </p:txBody>
      </p:sp>
      <p:sp>
        <p:nvSpPr>
          <p:cNvPr id="7" name="Rounded Rectangle 6"/>
          <p:cNvSpPr/>
          <p:nvPr/>
        </p:nvSpPr>
        <p:spPr>
          <a:xfrm>
            <a:off x="3108960" y="3931920"/>
            <a:ext cx="2926080" cy="1005840"/>
          </a:xfrm>
          <a:prstGeom prst="roundRect">
            <a:avLst/>
          </a:prstGeom>
          <a:solidFill>
            <a:srgbClr val="E9D5FF"/>
          </a:solidFill>
          <a:ln w="15875">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172A"/>
                </a:solidFill>
              </a:rPr>
              <a:t>Voiceover</a:t>
            </a:r>
          </a:p>
          <a:p>
            <a:pPr algn="ctr"/>
            <a:r>
              <a:rPr sz="1000" i="1">
                <a:solidFill>
                  <a:srgbClr val="64748B"/>
                </a:solidFill>
              </a:rPr>
              <a:t>gTTS</a:t>
            </a:r>
          </a:p>
        </p:txBody>
      </p:sp>
      <p:sp>
        <p:nvSpPr>
          <p:cNvPr id="8" name="Rounded Rectangle 7"/>
          <p:cNvSpPr/>
          <p:nvPr/>
        </p:nvSpPr>
        <p:spPr>
          <a:xfrm>
            <a:off x="3108960" y="5120640"/>
            <a:ext cx="2926080" cy="1005840"/>
          </a:xfrm>
          <a:prstGeom prst="roundRect">
            <a:avLst/>
          </a:prstGeom>
          <a:solidFill>
            <a:srgbClr val="E9D5FF"/>
          </a:solidFill>
          <a:ln w="15875">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172A"/>
                </a:solidFill>
              </a:rPr>
              <a:t>Assembly</a:t>
            </a:r>
          </a:p>
          <a:p>
            <a:pPr algn="ctr"/>
            <a:r>
              <a:rPr sz="1000" i="1">
                <a:solidFill>
                  <a:srgbClr val="64748B"/>
                </a:solidFill>
              </a:rPr>
              <a:t>FFmpeg</a:t>
            </a:r>
          </a:p>
        </p:txBody>
      </p:sp>
      <p:sp>
        <p:nvSpPr>
          <p:cNvPr id="9" name="Rounded Rectangle 8"/>
          <p:cNvSpPr/>
          <p:nvPr/>
        </p:nvSpPr>
        <p:spPr>
          <a:xfrm>
            <a:off x="7315200" y="2743200"/>
            <a:ext cx="1828800" cy="1371600"/>
          </a:xfrm>
          <a:prstGeom prst="roundRect">
            <a:avLst/>
          </a:prstGeom>
          <a:solidFill>
            <a:srgbClr val="DCFCE7"/>
          </a:solidFill>
          <a:ln w="15875">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172A"/>
                </a:solidFill>
              </a:rPr>
              <a:t>MP4 ad</a:t>
            </a:r>
          </a:p>
          <a:p>
            <a:pPr algn="ctr"/>
            <a:r>
              <a:rPr sz="1000" i="1">
                <a:solidFill>
                  <a:srgbClr val="64748B"/>
                </a:solidFill>
              </a:rPr>
              <a:t>9:16 / 1:1 / 16:9</a:t>
            </a:r>
          </a:p>
        </p:txBody>
      </p:sp>
      <p:sp>
        <p:nvSpPr>
          <p:cNvPr id="10" name="Rounded Rectangle 9"/>
          <p:cNvSpPr/>
          <p:nvPr/>
        </p:nvSpPr>
        <p:spPr>
          <a:xfrm>
            <a:off x="9875520" y="2743200"/>
            <a:ext cx="1828800" cy="1371600"/>
          </a:xfrm>
          <a:prstGeom prst="roundRect">
            <a:avLst/>
          </a:prstGeom>
          <a:solidFill>
            <a:srgbClr val="F1F5F9"/>
          </a:solidFill>
          <a:ln w="15875">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172A"/>
                </a:solidFill>
              </a:rPr>
              <a:t>TikTok • Reels • Shorts</a:t>
            </a:r>
          </a:p>
          <a:p>
            <a:pPr algn="ctr"/>
            <a:r>
              <a:rPr sz="1000" i="1">
                <a:solidFill>
                  <a:srgbClr val="64748B"/>
                </a:solidFill>
              </a:rPr>
              <a:t>ready to upload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0" y="822960"/>
            <a:ext cx="73152" cy="4572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10515600" cy="640080"/>
          </a:xfrm>
          <a:prstGeom prst="rect">
            <a:avLst/>
          </a:prstGeom>
          <a:noFill/>
        </p:spPr>
        <p:txBody>
          <a:bodyPr wrap="square" anchor="t">
            <a:spAutoFit/>
          </a:bodyPr>
          <a:lstStyle/>
          <a:p>
            <a:pPr algn="l"/>
            <a:r>
              <a:rPr sz="3200" b="1" i="0">
                <a:solidFill>
                  <a:srgbClr val="0F172A"/>
                </a:solidFill>
                <a:latin typeface="Calibri"/>
              </a:rPr>
              <a:t>My main contribution: Pulsefy AI</a:t>
            </a:r>
          </a:p>
        </p:txBody>
      </p:sp>
      <p:sp>
        <p:nvSpPr>
          <p:cNvPr id="4" name="TextBox 3"/>
          <p:cNvSpPr txBox="1"/>
          <p:nvPr/>
        </p:nvSpPr>
        <p:spPr>
          <a:xfrm>
            <a:off x="914400" y="1737360"/>
            <a:ext cx="10515600" cy="457200"/>
          </a:xfrm>
          <a:prstGeom prst="rect">
            <a:avLst/>
          </a:prstGeom>
          <a:noFill/>
        </p:spPr>
        <p:txBody>
          <a:bodyPr wrap="square" anchor="t">
            <a:spAutoFit/>
          </a:bodyPr>
          <a:lstStyle/>
          <a:p>
            <a:pPr algn="l"/>
            <a:r>
              <a:rPr sz="2000" b="0" i="1">
                <a:solidFill>
                  <a:srgbClr val="7C3AED"/>
                </a:solidFill>
                <a:latin typeface="Calibri"/>
              </a:rPr>
              <a:t>A custom LSTM music generator trained from scratch</a:t>
            </a:r>
          </a:p>
        </p:txBody>
      </p:sp>
      <p:sp>
        <p:nvSpPr>
          <p:cNvPr id="5" name="TextBox 4"/>
          <p:cNvSpPr txBox="1"/>
          <p:nvPr/>
        </p:nvSpPr>
        <p:spPr>
          <a:xfrm>
            <a:off x="914400" y="2743200"/>
            <a:ext cx="5303520" cy="548640"/>
          </a:xfrm>
          <a:prstGeom prst="rect">
            <a:avLst/>
          </a:prstGeom>
          <a:noFill/>
        </p:spPr>
        <p:txBody>
          <a:bodyPr wrap="square" anchor="t">
            <a:spAutoFit/>
          </a:bodyPr>
          <a:lstStyle/>
          <a:p>
            <a:pPr algn="l"/>
            <a:r>
              <a:rPr sz="2000" b="1" i="0">
                <a:solidFill>
                  <a:srgbClr val="0F172A"/>
                </a:solidFill>
                <a:latin typeface="Calibri"/>
              </a:rPr>
              <a:t>Why it matters</a:t>
            </a:r>
          </a:p>
        </p:txBody>
      </p:sp>
      <p:sp>
        <p:nvSpPr>
          <p:cNvPr id="6" name="TextBox 5"/>
          <p:cNvSpPr txBox="1"/>
          <p:nvPr/>
        </p:nvSpPr>
        <p:spPr>
          <a:xfrm>
            <a:off x="914400" y="3383280"/>
            <a:ext cx="5303520" cy="365760"/>
          </a:xfrm>
          <a:prstGeom prst="rect">
            <a:avLst/>
          </a:prstGeom>
          <a:noFill/>
        </p:spPr>
        <p:txBody>
          <a:bodyPr wrap="square" anchor="t">
            <a:spAutoFit/>
          </a:bodyPr>
          <a:lstStyle/>
          <a:p>
            <a:pPr algn="l"/>
            <a:r>
              <a:rPr sz="1400" b="0" i="0">
                <a:solidFill>
                  <a:srgbClr val="0F172A"/>
                </a:solidFill>
                <a:latin typeface="Calibri"/>
              </a:rPr>
              <a:t>The free tier never depends on a paid third-party model.</a:t>
            </a:r>
          </a:p>
          <a:p>
            <a:pPr algn="l"/>
            <a:r>
              <a:rPr sz="1800" b="0" i="0">
                <a:solidFill>
                  <a:srgbClr val="0F172A"/>
                </a:solidFill>
                <a:latin typeface="Calibri"/>
              </a:rPr>
              <a:t/>
            </a:r>
          </a:p>
          <a:p>
            <a:pPr algn="l"/>
            <a:r>
              <a:rPr sz="1400" b="0" i="0">
                <a:solidFill>
                  <a:srgbClr val="0F172A"/>
                </a:solidFill>
                <a:latin typeface="Calibri"/>
              </a:rPr>
              <a:t>Required learning PyTorch, MIDI tokenisation, and sequence modelling end-to-end.</a:t>
            </a:r>
          </a:p>
          <a:p>
            <a:pPr algn="l"/>
            <a:r>
              <a:rPr sz="1800" b="0" i="0">
                <a:solidFill>
                  <a:srgbClr val="0F172A"/>
                </a:solidFill>
                <a:latin typeface="Calibri"/>
              </a:rPr>
              <a:t/>
            </a:r>
          </a:p>
          <a:p>
            <a:pPr algn="l"/>
            <a:r>
              <a:rPr sz="1400" b="0" i="0">
                <a:solidFill>
                  <a:srgbClr val="0F172A"/>
                </a:solidFill>
                <a:latin typeface="Calibri"/>
              </a:rPr>
              <a:t>Generates a track in single-digit seconds — instant feedback for the creator.</a:t>
            </a:r>
          </a:p>
        </p:txBody>
      </p:sp>
      <p:sp>
        <p:nvSpPr>
          <p:cNvPr id="7" name="Rectangle 6"/>
          <p:cNvSpPr/>
          <p:nvPr/>
        </p:nvSpPr>
        <p:spPr>
          <a:xfrm>
            <a:off x="6858000" y="2651760"/>
            <a:ext cx="4572000" cy="329184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i="1">
                <a:solidFill>
                  <a:srgbClr val="64748B"/>
                </a:solidFill>
              </a:rPr>
              <a:t>[Insert: training screenshot from Ch 5 / Figure 43]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0" y="822960"/>
            <a:ext cx="73152" cy="4572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10515600" cy="640080"/>
          </a:xfrm>
          <a:prstGeom prst="rect">
            <a:avLst/>
          </a:prstGeom>
          <a:noFill/>
        </p:spPr>
        <p:txBody>
          <a:bodyPr wrap="square" anchor="t">
            <a:spAutoFit/>
          </a:bodyPr>
          <a:lstStyle/>
          <a:p>
            <a:pPr algn="l"/>
            <a:r>
              <a:rPr sz="3200" b="1" i="0">
                <a:solidFill>
                  <a:srgbClr val="0F172A"/>
                </a:solidFill>
                <a:latin typeface="Calibri"/>
              </a:rPr>
              <a:t>Training Pulsefy AI</a:t>
            </a:r>
          </a:p>
        </p:txBody>
      </p:sp>
      <p:sp>
        <p:nvSpPr>
          <p:cNvPr id="4" name="TextBox 3"/>
          <p:cNvSpPr txBox="1"/>
          <p:nvPr/>
        </p:nvSpPr>
        <p:spPr>
          <a:xfrm>
            <a:off x="457200" y="2377440"/>
            <a:ext cx="2743200" cy="457200"/>
          </a:xfrm>
          <a:prstGeom prst="rect">
            <a:avLst/>
          </a:prstGeom>
          <a:noFill/>
        </p:spPr>
        <p:txBody>
          <a:bodyPr wrap="square" anchor="t">
            <a:spAutoFit/>
          </a:bodyPr>
          <a:lstStyle/>
          <a:p>
            <a:pPr algn="ctr"/>
            <a:r>
              <a:rPr sz="1400" b="0" i="0">
                <a:solidFill>
                  <a:srgbClr val="64748B"/>
                </a:solidFill>
                <a:latin typeface="Calibri"/>
              </a:rPr>
              <a:t>Input corpus</a:t>
            </a:r>
          </a:p>
        </p:txBody>
      </p:sp>
      <p:sp>
        <p:nvSpPr>
          <p:cNvPr id="5" name="TextBox 4"/>
          <p:cNvSpPr txBox="1"/>
          <p:nvPr/>
        </p:nvSpPr>
        <p:spPr>
          <a:xfrm>
            <a:off x="457200" y="2834640"/>
            <a:ext cx="2743200" cy="914400"/>
          </a:xfrm>
          <a:prstGeom prst="rect">
            <a:avLst/>
          </a:prstGeom>
          <a:noFill/>
        </p:spPr>
        <p:txBody>
          <a:bodyPr wrap="square" anchor="t">
            <a:spAutoFit/>
          </a:bodyPr>
          <a:lstStyle/>
          <a:p>
            <a:pPr algn="ctr"/>
            <a:r>
              <a:rPr sz="4200" b="1" i="0">
                <a:solidFill>
                  <a:srgbClr val="7C3AED"/>
                </a:solidFill>
                <a:latin typeface="Calibri"/>
              </a:rPr>
              <a:t>1,034</a:t>
            </a:r>
          </a:p>
        </p:txBody>
      </p:sp>
      <p:sp>
        <p:nvSpPr>
          <p:cNvPr id="6" name="TextBox 5"/>
          <p:cNvSpPr txBox="1"/>
          <p:nvPr/>
        </p:nvSpPr>
        <p:spPr>
          <a:xfrm>
            <a:off x="457200" y="4114800"/>
            <a:ext cx="2743200" cy="457200"/>
          </a:xfrm>
          <a:prstGeom prst="rect">
            <a:avLst/>
          </a:prstGeom>
          <a:noFill/>
        </p:spPr>
        <p:txBody>
          <a:bodyPr wrap="square" anchor="t">
            <a:spAutoFit/>
          </a:bodyPr>
          <a:lstStyle/>
          <a:p>
            <a:pPr algn="ctr"/>
            <a:r>
              <a:rPr sz="1200" b="0" i="1">
                <a:solidFill>
                  <a:srgbClr val="64748B"/>
                </a:solidFill>
                <a:latin typeface="Calibri"/>
              </a:rPr>
              <a:t>MIDI files</a:t>
            </a:r>
          </a:p>
        </p:txBody>
      </p:sp>
      <p:sp>
        <p:nvSpPr>
          <p:cNvPr id="7" name="TextBox 6"/>
          <p:cNvSpPr txBox="1"/>
          <p:nvPr/>
        </p:nvSpPr>
        <p:spPr>
          <a:xfrm>
            <a:off x="3291840" y="2377440"/>
            <a:ext cx="2743200" cy="457200"/>
          </a:xfrm>
          <a:prstGeom prst="rect">
            <a:avLst/>
          </a:prstGeom>
          <a:noFill/>
        </p:spPr>
        <p:txBody>
          <a:bodyPr wrap="square" anchor="t">
            <a:spAutoFit/>
          </a:bodyPr>
          <a:lstStyle/>
          <a:p>
            <a:pPr algn="ctr"/>
            <a:r>
              <a:rPr sz="1400" b="0" i="0">
                <a:solidFill>
                  <a:srgbClr val="64748B"/>
                </a:solidFill>
                <a:latin typeface="Calibri"/>
              </a:rPr>
              <a:t>Tokens</a:t>
            </a:r>
          </a:p>
        </p:txBody>
      </p:sp>
      <p:sp>
        <p:nvSpPr>
          <p:cNvPr id="8" name="TextBox 7"/>
          <p:cNvSpPr txBox="1"/>
          <p:nvPr/>
        </p:nvSpPr>
        <p:spPr>
          <a:xfrm>
            <a:off x="3291840" y="2834640"/>
            <a:ext cx="2743200" cy="914400"/>
          </a:xfrm>
          <a:prstGeom prst="rect">
            <a:avLst/>
          </a:prstGeom>
          <a:noFill/>
        </p:spPr>
        <p:txBody>
          <a:bodyPr wrap="square" anchor="t">
            <a:spAutoFit/>
          </a:bodyPr>
          <a:lstStyle/>
          <a:p>
            <a:pPr algn="ctr"/>
            <a:r>
              <a:rPr sz="4200" b="1" i="0">
                <a:solidFill>
                  <a:srgbClr val="7C3AED"/>
                </a:solidFill>
                <a:latin typeface="Calibri"/>
              </a:rPr>
              <a:t>573,692</a:t>
            </a:r>
          </a:p>
        </p:txBody>
      </p:sp>
      <p:sp>
        <p:nvSpPr>
          <p:cNvPr id="9" name="TextBox 8"/>
          <p:cNvSpPr txBox="1"/>
          <p:nvPr/>
        </p:nvSpPr>
        <p:spPr>
          <a:xfrm>
            <a:off x="3291840" y="4114800"/>
            <a:ext cx="2743200" cy="457200"/>
          </a:xfrm>
          <a:prstGeom prst="rect">
            <a:avLst/>
          </a:prstGeom>
          <a:noFill/>
        </p:spPr>
        <p:txBody>
          <a:bodyPr wrap="square" anchor="t">
            <a:spAutoFit/>
          </a:bodyPr>
          <a:lstStyle/>
          <a:p>
            <a:pPr algn="ctr"/>
            <a:r>
              <a:rPr sz="1200" b="0" i="1">
                <a:solidFill>
                  <a:srgbClr val="64748B"/>
                </a:solidFill>
                <a:latin typeface="Calibri"/>
              </a:rPr>
              <a:t>after preprocessing</a:t>
            </a:r>
          </a:p>
        </p:txBody>
      </p:sp>
      <p:sp>
        <p:nvSpPr>
          <p:cNvPr id="10" name="TextBox 9"/>
          <p:cNvSpPr txBox="1"/>
          <p:nvPr/>
        </p:nvSpPr>
        <p:spPr>
          <a:xfrm>
            <a:off x="6126480" y="2377440"/>
            <a:ext cx="2743200" cy="457200"/>
          </a:xfrm>
          <a:prstGeom prst="rect">
            <a:avLst/>
          </a:prstGeom>
          <a:noFill/>
        </p:spPr>
        <p:txBody>
          <a:bodyPr wrap="square" anchor="t">
            <a:spAutoFit/>
          </a:bodyPr>
          <a:lstStyle/>
          <a:p>
            <a:pPr algn="ctr"/>
            <a:r>
              <a:rPr sz="1400" b="0" i="0">
                <a:solidFill>
                  <a:srgbClr val="64748B"/>
                </a:solidFill>
                <a:latin typeface="Calibri"/>
              </a:rPr>
              <a:t>Parameters</a:t>
            </a:r>
          </a:p>
        </p:txBody>
      </p:sp>
      <p:sp>
        <p:nvSpPr>
          <p:cNvPr id="11" name="TextBox 10"/>
          <p:cNvSpPr txBox="1"/>
          <p:nvPr/>
        </p:nvSpPr>
        <p:spPr>
          <a:xfrm>
            <a:off x="6126480" y="2834640"/>
            <a:ext cx="2743200" cy="914400"/>
          </a:xfrm>
          <a:prstGeom prst="rect">
            <a:avLst/>
          </a:prstGeom>
          <a:noFill/>
        </p:spPr>
        <p:txBody>
          <a:bodyPr wrap="square" anchor="t">
            <a:spAutoFit/>
          </a:bodyPr>
          <a:lstStyle/>
          <a:p>
            <a:pPr algn="ctr"/>
            <a:r>
              <a:rPr sz="4200" b="1" i="0">
                <a:solidFill>
                  <a:srgbClr val="7C3AED"/>
                </a:solidFill>
                <a:latin typeface="Calibri"/>
              </a:rPr>
              <a:t>908,708</a:t>
            </a:r>
          </a:p>
        </p:txBody>
      </p:sp>
      <p:sp>
        <p:nvSpPr>
          <p:cNvPr id="12" name="TextBox 11"/>
          <p:cNvSpPr txBox="1"/>
          <p:nvPr/>
        </p:nvSpPr>
        <p:spPr>
          <a:xfrm>
            <a:off x="6126480" y="4114800"/>
            <a:ext cx="2743200" cy="457200"/>
          </a:xfrm>
          <a:prstGeom prst="rect">
            <a:avLst/>
          </a:prstGeom>
          <a:noFill/>
        </p:spPr>
        <p:txBody>
          <a:bodyPr wrap="square" anchor="t">
            <a:spAutoFit/>
          </a:bodyPr>
          <a:lstStyle/>
          <a:p>
            <a:pPr algn="ctr"/>
            <a:r>
              <a:rPr sz="1200" b="0" i="1">
                <a:solidFill>
                  <a:srgbClr val="64748B"/>
                </a:solidFill>
                <a:latin typeface="Calibri"/>
              </a:rPr>
              <a:t>across 2 LSTM layers</a:t>
            </a:r>
          </a:p>
        </p:txBody>
      </p:sp>
      <p:sp>
        <p:nvSpPr>
          <p:cNvPr id="13" name="TextBox 12"/>
          <p:cNvSpPr txBox="1"/>
          <p:nvPr/>
        </p:nvSpPr>
        <p:spPr>
          <a:xfrm>
            <a:off x="8961120" y="2377440"/>
            <a:ext cx="2743200" cy="457200"/>
          </a:xfrm>
          <a:prstGeom prst="rect">
            <a:avLst/>
          </a:prstGeom>
          <a:noFill/>
        </p:spPr>
        <p:txBody>
          <a:bodyPr wrap="square" anchor="t">
            <a:spAutoFit/>
          </a:bodyPr>
          <a:lstStyle/>
          <a:p>
            <a:pPr algn="ctr"/>
            <a:r>
              <a:rPr sz="1400" b="0" i="0">
                <a:solidFill>
                  <a:srgbClr val="64748B"/>
                </a:solidFill>
                <a:latin typeface="Calibri"/>
              </a:rPr>
              <a:t>Training</a:t>
            </a:r>
          </a:p>
        </p:txBody>
      </p:sp>
      <p:sp>
        <p:nvSpPr>
          <p:cNvPr id="14" name="TextBox 13"/>
          <p:cNvSpPr txBox="1"/>
          <p:nvPr/>
        </p:nvSpPr>
        <p:spPr>
          <a:xfrm>
            <a:off x="8961120" y="2834640"/>
            <a:ext cx="2743200" cy="914400"/>
          </a:xfrm>
          <a:prstGeom prst="rect">
            <a:avLst/>
          </a:prstGeom>
          <a:noFill/>
        </p:spPr>
        <p:txBody>
          <a:bodyPr wrap="square" anchor="t">
            <a:spAutoFit/>
          </a:bodyPr>
          <a:lstStyle/>
          <a:p>
            <a:pPr algn="ctr"/>
            <a:r>
              <a:rPr sz="4200" b="1" i="0">
                <a:solidFill>
                  <a:srgbClr val="7C3AED"/>
                </a:solidFill>
                <a:latin typeface="Calibri"/>
              </a:rPr>
              <a:t>30</a:t>
            </a:r>
          </a:p>
        </p:txBody>
      </p:sp>
      <p:sp>
        <p:nvSpPr>
          <p:cNvPr id="15" name="TextBox 14"/>
          <p:cNvSpPr txBox="1"/>
          <p:nvPr/>
        </p:nvSpPr>
        <p:spPr>
          <a:xfrm>
            <a:off x="8961120" y="4114800"/>
            <a:ext cx="2743200" cy="457200"/>
          </a:xfrm>
          <a:prstGeom prst="rect">
            <a:avLst/>
          </a:prstGeom>
          <a:noFill/>
        </p:spPr>
        <p:txBody>
          <a:bodyPr wrap="square" anchor="t">
            <a:spAutoFit/>
          </a:bodyPr>
          <a:lstStyle/>
          <a:p>
            <a:pPr algn="ctr"/>
            <a:r>
              <a:rPr sz="1200" b="0" i="1">
                <a:solidFill>
                  <a:srgbClr val="64748B"/>
                </a:solidFill>
                <a:latin typeface="Calibri"/>
              </a:rPr>
              <a:t>epochs on Apple MPS</a:t>
            </a:r>
          </a:p>
        </p:txBody>
      </p:sp>
      <p:sp>
        <p:nvSpPr>
          <p:cNvPr id="16" name="TextBox 15"/>
          <p:cNvSpPr txBox="1"/>
          <p:nvPr/>
        </p:nvSpPr>
        <p:spPr>
          <a:xfrm>
            <a:off x="914400" y="5303520"/>
            <a:ext cx="10332720" cy="457200"/>
          </a:xfrm>
          <a:prstGeom prst="rect">
            <a:avLst/>
          </a:prstGeom>
          <a:noFill/>
        </p:spPr>
        <p:txBody>
          <a:bodyPr wrap="square" anchor="t">
            <a:spAutoFit/>
          </a:bodyPr>
          <a:lstStyle/>
          <a:p>
            <a:pPr algn="ctr"/>
            <a:r>
              <a:rPr sz="1500" b="0" i="1">
                <a:solidFill>
                  <a:srgbClr val="0F172A"/>
                </a:solidFill>
                <a:latin typeface="Calibri"/>
              </a:rPr>
              <a:t>Validation loss converged from 0.51 to 0.43 within the first three epochs.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0" y="822960"/>
            <a:ext cx="73152" cy="4572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10515600" cy="640080"/>
          </a:xfrm>
          <a:prstGeom prst="rect">
            <a:avLst/>
          </a:prstGeom>
          <a:noFill/>
        </p:spPr>
        <p:txBody>
          <a:bodyPr wrap="square" anchor="t">
            <a:spAutoFit/>
          </a:bodyPr>
          <a:lstStyle/>
          <a:p>
            <a:pPr algn="l"/>
            <a:r>
              <a:rPr sz="3200" b="1" i="0">
                <a:solidFill>
                  <a:srgbClr val="0F172A"/>
                </a:solidFill>
                <a:latin typeface="Calibri"/>
              </a:rPr>
              <a:t>Honest tier separation</a:t>
            </a:r>
          </a:p>
        </p:txBody>
      </p:sp>
      <p:sp>
        <p:nvSpPr>
          <p:cNvPr id="4" name="TextBox 3"/>
          <p:cNvSpPr txBox="1"/>
          <p:nvPr/>
        </p:nvSpPr>
        <p:spPr>
          <a:xfrm>
            <a:off x="914400" y="1645920"/>
            <a:ext cx="10515600" cy="457200"/>
          </a:xfrm>
          <a:prstGeom prst="rect">
            <a:avLst/>
          </a:prstGeom>
          <a:noFill/>
        </p:spPr>
        <p:txBody>
          <a:bodyPr wrap="square" anchor="t">
            <a:spAutoFit/>
          </a:bodyPr>
          <a:lstStyle/>
          <a:p>
            <a:pPr algn="l"/>
            <a:r>
              <a:rPr sz="1800" b="0" i="1">
                <a:solidFill>
                  <a:srgbClr val="64748B"/>
                </a:solidFill>
                <a:latin typeface="Calibri"/>
              </a:rPr>
              <a:t>Free is functional. Premium adds quality, not access.</a:t>
            </a:r>
          </a:p>
        </p:txBody>
      </p:sp>
      <p:sp>
        <p:nvSpPr>
          <p:cNvPr id="5" name="Rounded Rectangle 4"/>
          <p:cNvSpPr/>
          <p:nvPr/>
        </p:nvSpPr>
        <p:spPr>
          <a:xfrm>
            <a:off x="548640" y="2560320"/>
            <a:ext cx="5029200" cy="3474720"/>
          </a:xfrm>
          <a:prstGeom prst="roundRect">
            <a:avLst/>
          </a:prstGeom>
          <a:solidFill>
            <a:srgbClr val="FFFFFF"/>
          </a:solidFill>
          <a:ln w="254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2743200"/>
            <a:ext cx="4572000" cy="457200"/>
          </a:xfrm>
          <a:prstGeom prst="rect">
            <a:avLst/>
          </a:prstGeom>
          <a:noFill/>
        </p:spPr>
        <p:txBody>
          <a:bodyPr wrap="square" anchor="t">
            <a:spAutoFit/>
          </a:bodyPr>
          <a:lstStyle/>
          <a:p>
            <a:pPr algn="l"/>
            <a:r>
              <a:rPr sz="2200" b="1" i="0">
                <a:solidFill>
                  <a:srgbClr val="7C3AED"/>
                </a:solidFill>
                <a:latin typeface="Calibri"/>
              </a:rPr>
              <a:t>Free  ·  Pulsefy AI</a:t>
            </a:r>
          </a:p>
        </p:txBody>
      </p:sp>
      <p:sp>
        <p:nvSpPr>
          <p:cNvPr id="7" name="TextBox 6"/>
          <p:cNvSpPr txBox="1"/>
          <p:nvPr/>
        </p:nvSpPr>
        <p:spPr>
          <a:xfrm>
            <a:off x="822959" y="3383280"/>
            <a:ext cx="4572000" cy="365760"/>
          </a:xfrm>
          <a:prstGeom prst="rect">
            <a:avLst/>
          </a:prstGeom>
          <a:noFill/>
        </p:spPr>
        <p:txBody>
          <a:bodyPr wrap="square" anchor="t">
            <a:spAutoFit/>
          </a:bodyPr>
          <a:lstStyle/>
          <a:p>
            <a:pPr algn="l"/>
            <a:r>
              <a:rPr sz="1400" b="0" i="0">
                <a:solidFill>
                  <a:srgbClr val="0F172A"/>
                </a:solidFill>
                <a:latin typeface="Calibri"/>
              </a:rPr>
              <a:t>Custom LSTM, 908k params</a:t>
            </a:r>
          </a:p>
          <a:p>
            <a:pPr algn="l"/>
            <a:r>
              <a:rPr sz="1800" b="0" i="0">
                <a:solidFill>
                  <a:srgbClr val="0F172A"/>
                </a:solidFill>
                <a:latin typeface="Calibri"/>
              </a:rPr>
              <a:t/>
            </a:r>
          </a:p>
          <a:p>
            <a:pPr algn="l"/>
            <a:r>
              <a:rPr sz="1400" b="0" i="0">
                <a:solidFill>
                  <a:srgbClr val="0F172A"/>
                </a:solidFill>
                <a:latin typeface="Calibri"/>
              </a:rPr>
              <a:t>~3–7 seconds per track</a:t>
            </a:r>
          </a:p>
          <a:p>
            <a:pPr algn="l"/>
            <a:r>
              <a:rPr sz="1800" b="0" i="0">
                <a:solidFill>
                  <a:srgbClr val="0F172A"/>
                </a:solidFill>
                <a:latin typeface="Calibri"/>
              </a:rPr>
              <a:t/>
            </a:r>
          </a:p>
          <a:p>
            <a:pPr algn="l"/>
            <a:r>
              <a:rPr sz="1400" b="0" i="0">
                <a:solidFill>
                  <a:srgbClr val="0F172A"/>
                </a:solidFill>
                <a:latin typeface="Calibri"/>
              </a:rPr>
              <a:t>No third-party dependency</a:t>
            </a:r>
          </a:p>
        </p:txBody>
      </p:sp>
      <p:sp>
        <p:nvSpPr>
          <p:cNvPr id="8" name="Rounded Rectangle 7"/>
          <p:cNvSpPr/>
          <p:nvPr/>
        </p:nvSpPr>
        <p:spPr>
          <a:xfrm>
            <a:off x="6583680" y="2560320"/>
            <a:ext cx="5029200" cy="3474720"/>
          </a:xfrm>
          <a:prstGeom prst="roundRect">
            <a:avLst/>
          </a:prstGeom>
          <a:solidFill>
            <a:srgbClr val="FFFFFF"/>
          </a:solidFill>
          <a:ln w="2540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0" y="2743200"/>
            <a:ext cx="4572000" cy="457200"/>
          </a:xfrm>
          <a:prstGeom prst="rect">
            <a:avLst/>
          </a:prstGeom>
          <a:noFill/>
        </p:spPr>
        <p:txBody>
          <a:bodyPr wrap="square" anchor="t">
            <a:spAutoFit/>
          </a:bodyPr>
          <a:lstStyle/>
          <a:p>
            <a:pPr algn="l"/>
            <a:r>
              <a:rPr sz="2200" b="1" i="0">
                <a:solidFill>
                  <a:srgbClr val="F97316"/>
                </a:solidFill>
                <a:latin typeface="Calibri"/>
              </a:rPr>
              <a:t>Premium  ·  MusicGen</a:t>
            </a:r>
          </a:p>
        </p:txBody>
      </p:sp>
      <p:sp>
        <p:nvSpPr>
          <p:cNvPr id="10" name="TextBox 9"/>
          <p:cNvSpPr txBox="1"/>
          <p:nvPr/>
        </p:nvSpPr>
        <p:spPr>
          <a:xfrm>
            <a:off x="6858000" y="3383280"/>
            <a:ext cx="4572000" cy="365760"/>
          </a:xfrm>
          <a:prstGeom prst="rect">
            <a:avLst/>
          </a:prstGeom>
          <a:noFill/>
        </p:spPr>
        <p:txBody>
          <a:bodyPr wrap="square" anchor="t">
            <a:spAutoFit/>
          </a:bodyPr>
          <a:lstStyle/>
          <a:p>
            <a:pPr algn="l"/>
            <a:r>
              <a:rPr sz="1400" b="0" i="0">
                <a:solidFill>
                  <a:srgbClr val="0F172A"/>
                </a:solidFill>
                <a:latin typeface="Calibri"/>
              </a:rPr>
              <a:t>Meta audiocraft, balanced quality</a:t>
            </a:r>
          </a:p>
          <a:p>
            <a:pPr algn="l"/>
            <a:r>
              <a:rPr sz="1800" b="0" i="0">
                <a:solidFill>
                  <a:srgbClr val="0F172A"/>
                </a:solidFill>
                <a:latin typeface="Calibri"/>
              </a:rPr>
              <a:t/>
            </a:r>
          </a:p>
          <a:p>
            <a:pPr algn="l"/>
            <a:r>
              <a:rPr sz="1400" b="0" i="0">
                <a:solidFill>
                  <a:srgbClr val="0F172A"/>
                </a:solidFill>
                <a:latin typeface="Calibri"/>
              </a:rPr>
              <a:t>~5–7 minutes per track on CPU</a:t>
            </a:r>
          </a:p>
          <a:p>
            <a:pPr algn="l"/>
            <a:r>
              <a:rPr sz="1800" b="0" i="0">
                <a:solidFill>
                  <a:srgbClr val="0F172A"/>
                </a:solidFill>
                <a:latin typeface="Calibri"/>
              </a:rPr>
              <a:t/>
            </a:r>
          </a:p>
          <a:p>
            <a:pPr algn="l"/>
            <a:r>
              <a:rPr sz="1400" b="0" i="0">
                <a:solidFill>
                  <a:srgbClr val="0F172A"/>
                </a:solidFill>
                <a:latin typeface="Calibri"/>
              </a:rPr>
              <a:t>Multilingual voiceover unlocked too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0" y="822960"/>
            <a:ext cx="73152" cy="4572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10515600" cy="640080"/>
          </a:xfrm>
          <a:prstGeom prst="rect">
            <a:avLst/>
          </a:prstGeom>
          <a:noFill/>
        </p:spPr>
        <p:txBody>
          <a:bodyPr wrap="square" anchor="t">
            <a:spAutoFit/>
          </a:bodyPr>
          <a:lstStyle/>
          <a:p>
            <a:pPr algn="l"/>
            <a:r>
              <a:rPr sz="3000" b="1" i="0">
                <a:solidFill>
                  <a:srgbClr val="0F172A"/>
                </a:solidFill>
                <a:latin typeface="Calibri"/>
              </a:rPr>
              <a:t>Sound Studio: the single authoring surface</a:t>
            </a:r>
          </a:p>
        </p:txBody>
      </p:sp>
      <p:sp>
        <p:nvSpPr>
          <p:cNvPr id="4" name="Rectangle 3"/>
          <p:cNvSpPr/>
          <p:nvPr/>
        </p:nvSpPr>
        <p:spPr>
          <a:xfrm>
            <a:off x="914400" y="1645920"/>
            <a:ext cx="10332720" cy="475488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i="1">
                <a:solidFill>
                  <a:srgbClr val="64748B"/>
                </a:solidFill>
              </a:rPr>
              <a:t>[Insert: Sound Studio screenshot — the Music tab with Pulsefy AI vs MusicGen selector]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0" y="822960"/>
            <a:ext cx="73152" cy="4572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10515600" cy="640080"/>
          </a:xfrm>
          <a:prstGeom prst="rect">
            <a:avLst/>
          </a:prstGeom>
          <a:noFill/>
        </p:spPr>
        <p:txBody>
          <a:bodyPr wrap="square" anchor="t">
            <a:spAutoFit/>
          </a:bodyPr>
          <a:lstStyle/>
          <a:p>
            <a:pPr algn="l"/>
            <a:r>
              <a:rPr sz="3200" b="1" i="0">
                <a:solidFill>
                  <a:srgbClr val="0F172A"/>
                </a:solidFill>
                <a:latin typeface="Calibri"/>
              </a:rPr>
              <a:t>How fast it actually is</a:t>
            </a:r>
          </a:p>
        </p:txBody>
      </p:sp>
      <p:sp>
        <p:nvSpPr>
          <p:cNvPr id="4" name="TextBox 3"/>
          <p:cNvSpPr txBox="1"/>
          <p:nvPr/>
        </p:nvSpPr>
        <p:spPr>
          <a:xfrm>
            <a:off x="914400" y="1737360"/>
            <a:ext cx="10515600" cy="457200"/>
          </a:xfrm>
          <a:prstGeom prst="rect">
            <a:avLst/>
          </a:prstGeom>
          <a:noFill/>
        </p:spPr>
        <p:txBody>
          <a:bodyPr wrap="square" anchor="t">
            <a:spAutoFit/>
          </a:bodyPr>
          <a:lstStyle/>
          <a:p>
            <a:pPr algn="l"/>
            <a:r>
              <a:rPr sz="1600" b="0" i="1">
                <a:solidFill>
                  <a:srgbClr val="64748B"/>
                </a:solidFill>
                <a:latin typeface="Calibri"/>
              </a:rPr>
              <a:t>Three Instagram Reel scenarios, measured on Mac M2 Pro:</a:t>
            </a:r>
          </a:p>
        </p:txBody>
      </p:sp>
      <p:sp>
        <p:nvSpPr>
          <p:cNvPr id="5" name="TextBox 4"/>
          <p:cNvSpPr txBox="1"/>
          <p:nvPr/>
        </p:nvSpPr>
        <p:spPr>
          <a:xfrm>
            <a:off x="914400" y="2743200"/>
            <a:ext cx="4572000" cy="548640"/>
          </a:xfrm>
          <a:prstGeom prst="rect">
            <a:avLst/>
          </a:prstGeom>
          <a:noFill/>
        </p:spPr>
        <p:txBody>
          <a:bodyPr wrap="square" anchor="ctr">
            <a:spAutoFit/>
          </a:bodyPr>
          <a:lstStyle/>
          <a:p>
            <a:pPr algn="l"/>
            <a:r>
              <a:rPr sz="2000" b="0" i="0">
                <a:solidFill>
                  <a:srgbClr val="0F172A"/>
                </a:solidFill>
                <a:latin typeface="Calibri"/>
              </a:rPr>
              <a:t>Manual workflow</a:t>
            </a:r>
          </a:p>
        </p:txBody>
      </p:sp>
      <p:sp>
        <p:nvSpPr>
          <p:cNvPr id="6" name="TextBox 5"/>
          <p:cNvSpPr txBox="1"/>
          <p:nvPr/>
        </p:nvSpPr>
        <p:spPr>
          <a:xfrm>
            <a:off x="5486400" y="2743200"/>
            <a:ext cx="3474720" cy="548640"/>
          </a:xfrm>
          <a:prstGeom prst="rect">
            <a:avLst/>
          </a:prstGeom>
          <a:noFill/>
        </p:spPr>
        <p:txBody>
          <a:bodyPr wrap="square" anchor="ctr">
            <a:spAutoFit/>
          </a:bodyPr>
          <a:lstStyle/>
          <a:p>
            <a:pPr algn="l"/>
            <a:r>
              <a:rPr sz="3600" b="1" i="0">
                <a:solidFill>
                  <a:srgbClr val="64748B"/>
                </a:solidFill>
                <a:latin typeface="Calibri"/>
              </a:rPr>
              <a:t>~8 hours</a:t>
            </a:r>
          </a:p>
        </p:txBody>
      </p:sp>
      <p:sp>
        <p:nvSpPr>
          <p:cNvPr id="7" name="TextBox 6"/>
          <p:cNvSpPr txBox="1"/>
          <p:nvPr/>
        </p:nvSpPr>
        <p:spPr>
          <a:xfrm>
            <a:off x="9052560" y="2743200"/>
            <a:ext cx="2743200" cy="548640"/>
          </a:xfrm>
          <a:prstGeom prst="rect">
            <a:avLst/>
          </a:prstGeom>
          <a:noFill/>
        </p:spPr>
        <p:txBody>
          <a:bodyPr wrap="square" anchor="ctr">
            <a:spAutoFit/>
          </a:bodyPr>
          <a:lstStyle/>
          <a:p>
            <a:pPr algn="l"/>
            <a:r>
              <a:rPr sz="1400" b="0" i="1">
                <a:solidFill>
                  <a:srgbClr val="64748B"/>
                </a:solidFill>
                <a:latin typeface="Calibri"/>
              </a:rPr>
              <a:t>baseline</a:t>
            </a:r>
          </a:p>
        </p:txBody>
      </p:sp>
      <p:sp>
        <p:nvSpPr>
          <p:cNvPr id="8" name="TextBox 7"/>
          <p:cNvSpPr txBox="1"/>
          <p:nvPr/>
        </p:nvSpPr>
        <p:spPr>
          <a:xfrm>
            <a:off x="914400" y="3931920"/>
            <a:ext cx="4572000" cy="548640"/>
          </a:xfrm>
          <a:prstGeom prst="rect">
            <a:avLst/>
          </a:prstGeom>
          <a:noFill/>
        </p:spPr>
        <p:txBody>
          <a:bodyPr wrap="square" anchor="ctr">
            <a:spAutoFit/>
          </a:bodyPr>
          <a:lstStyle/>
          <a:p>
            <a:pPr algn="l"/>
            <a:r>
              <a:rPr sz="2000" b="0" i="0">
                <a:solidFill>
                  <a:srgbClr val="0F172A"/>
                </a:solidFill>
                <a:latin typeface="Calibri"/>
              </a:rPr>
              <a:t>Pulsefy free</a:t>
            </a:r>
          </a:p>
        </p:txBody>
      </p:sp>
      <p:sp>
        <p:nvSpPr>
          <p:cNvPr id="9" name="TextBox 8"/>
          <p:cNvSpPr txBox="1"/>
          <p:nvPr/>
        </p:nvSpPr>
        <p:spPr>
          <a:xfrm>
            <a:off x="5486400" y="3931920"/>
            <a:ext cx="3474720" cy="548640"/>
          </a:xfrm>
          <a:prstGeom prst="rect">
            <a:avLst/>
          </a:prstGeom>
          <a:noFill/>
        </p:spPr>
        <p:txBody>
          <a:bodyPr wrap="square" anchor="ctr">
            <a:spAutoFit/>
          </a:bodyPr>
          <a:lstStyle/>
          <a:p>
            <a:pPr algn="l"/>
            <a:r>
              <a:rPr sz="3600" b="1" i="0">
                <a:solidFill>
                  <a:srgbClr val="7C3AED"/>
                </a:solidFill>
                <a:latin typeface="Calibri"/>
              </a:rPr>
              <a:t>~3 min 11 s</a:t>
            </a:r>
          </a:p>
        </p:txBody>
      </p:sp>
      <p:sp>
        <p:nvSpPr>
          <p:cNvPr id="10" name="TextBox 9"/>
          <p:cNvSpPr txBox="1"/>
          <p:nvPr/>
        </p:nvSpPr>
        <p:spPr>
          <a:xfrm>
            <a:off x="9052560" y="3931920"/>
            <a:ext cx="2743200" cy="548640"/>
          </a:xfrm>
          <a:prstGeom prst="rect">
            <a:avLst/>
          </a:prstGeom>
          <a:noFill/>
        </p:spPr>
        <p:txBody>
          <a:bodyPr wrap="square" anchor="ctr">
            <a:spAutoFit/>
          </a:bodyPr>
          <a:lstStyle/>
          <a:p>
            <a:pPr algn="l"/>
            <a:r>
              <a:rPr sz="1400" b="0" i="1">
                <a:solidFill>
                  <a:srgbClr val="64748B"/>
                </a:solidFill>
                <a:latin typeface="Calibri"/>
              </a:rPr>
              <a:t>≈ 150× faster</a:t>
            </a:r>
          </a:p>
        </p:txBody>
      </p:sp>
      <p:sp>
        <p:nvSpPr>
          <p:cNvPr id="11" name="TextBox 10"/>
          <p:cNvSpPr txBox="1"/>
          <p:nvPr/>
        </p:nvSpPr>
        <p:spPr>
          <a:xfrm>
            <a:off x="914400" y="5120640"/>
            <a:ext cx="4572000" cy="548640"/>
          </a:xfrm>
          <a:prstGeom prst="rect">
            <a:avLst/>
          </a:prstGeom>
          <a:noFill/>
        </p:spPr>
        <p:txBody>
          <a:bodyPr wrap="square" anchor="ctr">
            <a:spAutoFit/>
          </a:bodyPr>
          <a:lstStyle/>
          <a:p>
            <a:pPr algn="l"/>
            <a:r>
              <a:rPr sz="2000" b="0" i="0">
                <a:solidFill>
                  <a:srgbClr val="0F172A"/>
                </a:solidFill>
                <a:latin typeface="Calibri"/>
              </a:rPr>
              <a:t>Pulsefy premium</a:t>
            </a:r>
          </a:p>
        </p:txBody>
      </p:sp>
      <p:sp>
        <p:nvSpPr>
          <p:cNvPr id="12" name="TextBox 11"/>
          <p:cNvSpPr txBox="1"/>
          <p:nvPr/>
        </p:nvSpPr>
        <p:spPr>
          <a:xfrm>
            <a:off x="5486400" y="5120640"/>
            <a:ext cx="3474720" cy="548640"/>
          </a:xfrm>
          <a:prstGeom prst="rect">
            <a:avLst/>
          </a:prstGeom>
          <a:noFill/>
        </p:spPr>
        <p:txBody>
          <a:bodyPr wrap="square" anchor="ctr">
            <a:spAutoFit/>
          </a:bodyPr>
          <a:lstStyle/>
          <a:p>
            <a:pPr algn="l"/>
            <a:r>
              <a:rPr sz="3600" b="1" i="0">
                <a:solidFill>
                  <a:srgbClr val="F97316"/>
                </a:solidFill>
                <a:latin typeface="Calibri"/>
              </a:rPr>
              <a:t>~9 min 12 s</a:t>
            </a:r>
          </a:p>
        </p:txBody>
      </p:sp>
      <p:sp>
        <p:nvSpPr>
          <p:cNvPr id="13" name="TextBox 12"/>
          <p:cNvSpPr txBox="1"/>
          <p:nvPr/>
        </p:nvSpPr>
        <p:spPr>
          <a:xfrm>
            <a:off x="9052560" y="5120640"/>
            <a:ext cx="2743200" cy="548640"/>
          </a:xfrm>
          <a:prstGeom prst="rect">
            <a:avLst/>
          </a:prstGeom>
          <a:noFill/>
        </p:spPr>
        <p:txBody>
          <a:bodyPr wrap="square" anchor="ctr">
            <a:spAutoFit/>
          </a:bodyPr>
          <a:lstStyle/>
          <a:p>
            <a:pPr algn="l"/>
            <a:r>
              <a:rPr sz="1400" b="0" i="1">
                <a:solidFill>
                  <a:srgbClr val="64748B"/>
                </a:solidFill>
                <a:latin typeface="Calibri"/>
              </a:rPr>
              <a:t>≈ 52× faster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0" y="822960"/>
            <a:ext cx="73152" cy="4572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10515600" cy="640080"/>
          </a:xfrm>
          <a:prstGeom prst="rect">
            <a:avLst/>
          </a:prstGeom>
          <a:noFill/>
        </p:spPr>
        <p:txBody>
          <a:bodyPr wrap="square" anchor="t">
            <a:spAutoFit/>
          </a:bodyPr>
          <a:lstStyle/>
          <a:p>
            <a:pPr algn="l"/>
            <a:r>
              <a:rPr sz="3200" b="1" i="0">
                <a:solidFill>
                  <a:srgbClr val="0F172A"/>
                </a:solidFill>
                <a:latin typeface="Calibri"/>
              </a:rPr>
              <a:t>Architecture</a:t>
            </a:r>
          </a:p>
        </p:txBody>
      </p:sp>
      <p:sp>
        <p:nvSpPr>
          <p:cNvPr id="4" name="TextBox 3"/>
          <p:cNvSpPr txBox="1"/>
          <p:nvPr/>
        </p:nvSpPr>
        <p:spPr>
          <a:xfrm>
            <a:off x="914400" y="1645920"/>
            <a:ext cx="10515600" cy="457200"/>
          </a:xfrm>
          <a:prstGeom prst="rect">
            <a:avLst/>
          </a:prstGeom>
          <a:noFill/>
        </p:spPr>
        <p:txBody>
          <a:bodyPr wrap="square" anchor="t">
            <a:spAutoFit/>
          </a:bodyPr>
          <a:lstStyle/>
          <a:p>
            <a:pPr algn="l"/>
            <a:r>
              <a:rPr sz="1600" b="0" i="1">
                <a:solidFill>
                  <a:srgbClr val="64748B"/>
                </a:solidFill>
                <a:latin typeface="Calibri"/>
              </a:rPr>
              <a:t>Thin web tier, heavy work in spawned subprocesses</a:t>
            </a:r>
          </a:p>
        </p:txBody>
      </p:sp>
      <p:sp>
        <p:nvSpPr>
          <p:cNvPr id="5" name="Rectangle 4"/>
          <p:cNvSpPr/>
          <p:nvPr/>
        </p:nvSpPr>
        <p:spPr>
          <a:xfrm>
            <a:off x="914400" y="2377440"/>
            <a:ext cx="10332720" cy="402336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i="1">
                <a:solidFill>
                  <a:srgbClr val="64748B"/>
                </a:solidFill>
              </a:rPr>
              <a:t>[Insert: Pulsefy architecture block diagram — Figure 22 from Chapter 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0" y="822960"/>
            <a:ext cx="73152" cy="4572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10515600" cy="640080"/>
          </a:xfrm>
          <a:prstGeom prst="rect">
            <a:avLst/>
          </a:prstGeom>
          <a:noFill/>
        </p:spPr>
        <p:txBody>
          <a:bodyPr wrap="square" anchor="t">
            <a:spAutoFit/>
          </a:bodyPr>
          <a:lstStyle/>
          <a:p>
            <a:pPr algn="l"/>
            <a:r>
              <a:rPr sz="3200" b="1" i="0">
                <a:solidFill>
                  <a:srgbClr val="0F172A"/>
                </a:solidFill>
                <a:latin typeface="Calibri"/>
              </a:rPr>
              <a:t>What's next</a:t>
            </a:r>
          </a:p>
        </p:txBody>
      </p:sp>
      <p:sp>
        <p:nvSpPr>
          <p:cNvPr id="4" name="TextBox 3"/>
          <p:cNvSpPr txBox="1"/>
          <p:nvPr/>
        </p:nvSpPr>
        <p:spPr>
          <a:xfrm>
            <a:off x="914400" y="2194560"/>
            <a:ext cx="5029200" cy="365760"/>
          </a:xfrm>
          <a:prstGeom prst="rect">
            <a:avLst/>
          </a:prstGeom>
          <a:noFill/>
        </p:spPr>
        <p:txBody>
          <a:bodyPr wrap="square" anchor="t">
            <a:spAutoFit/>
          </a:bodyPr>
          <a:lstStyle/>
          <a:p>
            <a:pPr algn="l"/>
            <a:r>
              <a:rPr sz="1800" b="1" i="0">
                <a:solidFill>
                  <a:srgbClr val="7C3AED"/>
                </a:solidFill>
                <a:latin typeface="Calibri"/>
              </a:rPr>
              <a:t>GPU-backed inference</a:t>
            </a:r>
          </a:p>
        </p:txBody>
      </p:sp>
      <p:sp>
        <p:nvSpPr>
          <p:cNvPr id="5" name="TextBox 4"/>
          <p:cNvSpPr txBox="1"/>
          <p:nvPr/>
        </p:nvSpPr>
        <p:spPr>
          <a:xfrm>
            <a:off x="914400" y="2651760"/>
            <a:ext cx="5029200" cy="1371600"/>
          </a:xfrm>
          <a:prstGeom prst="rect">
            <a:avLst/>
          </a:prstGeom>
          <a:noFill/>
        </p:spPr>
        <p:txBody>
          <a:bodyPr wrap="square" anchor="t">
            <a:spAutoFit/>
          </a:bodyPr>
          <a:lstStyle/>
          <a:p>
            <a:pPr algn="l"/>
            <a:r>
              <a:rPr sz="1400" b="0" i="0">
                <a:solidFill>
                  <a:srgbClr val="0F172A"/>
                </a:solidFill>
                <a:latin typeface="Calibri"/>
              </a:rPr>
              <a:t>Reduce MusicGen latency from minutes to seconds with a worker pool on GPU hardware.</a:t>
            </a:r>
          </a:p>
        </p:txBody>
      </p:sp>
      <p:sp>
        <p:nvSpPr>
          <p:cNvPr id="6" name="TextBox 5"/>
          <p:cNvSpPr txBox="1"/>
          <p:nvPr/>
        </p:nvSpPr>
        <p:spPr>
          <a:xfrm>
            <a:off x="6217920" y="2194560"/>
            <a:ext cx="5029200" cy="365760"/>
          </a:xfrm>
          <a:prstGeom prst="rect">
            <a:avLst/>
          </a:prstGeom>
          <a:noFill/>
        </p:spPr>
        <p:txBody>
          <a:bodyPr wrap="square" anchor="t">
            <a:spAutoFit/>
          </a:bodyPr>
          <a:lstStyle/>
          <a:p>
            <a:pPr algn="l"/>
            <a:r>
              <a:rPr sz="1800" b="1" i="0">
                <a:solidFill>
                  <a:srgbClr val="7C3AED"/>
                </a:solidFill>
                <a:latin typeface="Calibri"/>
              </a:rPr>
              <a:t>Larger validation study</a:t>
            </a:r>
          </a:p>
        </p:txBody>
      </p:sp>
      <p:sp>
        <p:nvSpPr>
          <p:cNvPr id="7" name="TextBox 6"/>
          <p:cNvSpPr txBox="1"/>
          <p:nvPr/>
        </p:nvSpPr>
        <p:spPr>
          <a:xfrm>
            <a:off x="6217920" y="2651760"/>
            <a:ext cx="5029200" cy="1371600"/>
          </a:xfrm>
          <a:prstGeom prst="rect">
            <a:avLst/>
          </a:prstGeom>
          <a:noFill/>
        </p:spPr>
        <p:txBody>
          <a:bodyPr wrap="square" anchor="t">
            <a:spAutoFit/>
          </a:bodyPr>
          <a:lstStyle/>
          <a:p>
            <a:pPr algn="l"/>
            <a:r>
              <a:rPr sz="1400" b="0" i="0">
                <a:solidFill>
                  <a:srgbClr val="0F172A"/>
                </a:solidFill>
                <a:latin typeface="Calibri"/>
              </a:rPr>
              <a:t>N ≥ 20 listeners with MUSHRA scoring and Fréchet Audio Distance against a reference catalog.</a:t>
            </a:r>
          </a:p>
        </p:txBody>
      </p:sp>
      <p:sp>
        <p:nvSpPr>
          <p:cNvPr id="8" name="TextBox 7"/>
          <p:cNvSpPr txBox="1"/>
          <p:nvPr/>
        </p:nvSpPr>
        <p:spPr>
          <a:xfrm>
            <a:off x="914400" y="4023360"/>
            <a:ext cx="5029200" cy="365760"/>
          </a:xfrm>
          <a:prstGeom prst="rect">
            <a:avLst/>
          </a:prstGeom>
          <a:noFill/>
        </p:spPr>
        <p:txBody>
          <a:bodyPr wrap="square" anchor="t">
            <a:spAutoFit/>
          </a:bodyPr>
          <a:lstStyle/>
          <a:p>
            <a:pPr algn="l"/>
            <a:r>
              <a:rPr sz="1800" b="1" i="0">
                <a:solidFill>
                  <a:srgbClr val="7C3AED"/>
                </a:solidFill>
                <a:latin typeface="Calibri"/>
              </a:rPr>
              <a:t>Mobile-responsive layout</a:t>
            </a:r>
          </a:p>
        </p:txBody>
      </p:sp>
      <p:sp>
        <p:nvSpPr>
          <p:cNvPr id="9" name="TextBox 8"/>
          <p:cNvSpPr txBox="1"/>
          <p:nvPr/>
        </p:nvSpPr>
        <p:spPr>
          <a:xfrm>
            <a:off x="914400" y="4480560"/>
            <a:ext cx="5029200" cy="1371600"/>
          </a:xfrm>
          <a:prstGeom prst="rect">
            <a:avLst/>
          </a:prstGeom>
          <a:noFill/>
        </p:spPr>
        <p:txBody>
          <a:bodyPr wrap="square" anchor="t">
            <a:spAutoFit/>
          </a:bodyPr>
          <a:lstStyle/>
          <a:p>
            <a:pPr algn="l"/>
            <a:r>
              <a:rPr sz="1400" b="0" i="0">
                <a:solidFill>
                  <a:srgbClr val="0F172A"/>
                </a:solidFill>
                <a:latin typeface="Calibri"/>
              </a:rPr>
              <a:t>Meet creators on the device they shoot their content on.</a:t>
            </a:r>
          </a:p>
        </p:txBody>
      </p:sp>
      <p:sp>
        <p:nvSpPr>
          <p:cNvPr id="10" name="TextBox 9"/>
          <p:cNvSpPr txBox="1"/>
          <p:nvPr/>
        </p:nvSpPr>
        <p:spPr>
          <a:xfrm>
            <a:off x="6217920" y="4023360"/>
            <a:ext cx="5029200" cy="365760"/>
          </a:xfrm>
          <a:prstGeom prst="rect">
            <a:avLst/>
          </a:prstGeom>
          <a:noFill/>
        </p:spPr>
        <p:txBody>
          <a:bodyPr wrap="square" anchor="t">
            <a:spAutoFit/>
          </a:bodyPr>
          <a:lstStyle/>
          <a:p>
            <a:pPr algn="l"/>
            <a:r>
              <a:rPr sz="1800" b="1" i="0">
                <a:solidFill>
                  <a:srgbClr val="7C3AED"/>
                </a:solidFill>
                <a:latin typeface="Calibri"/>
              </a:rPr>
              <a:t>Real payment processing</a:t>
            </a:r>
          </a:p>
        </p:txBody>
      </p:sp>
      <p:sp>
        <p:nvSpPr>
          <p:cNvPr id="11" name="TextBox 10"/>
          <p:cNvSpPr txBox="1"/>
          <p:nvPr/>
        </p:nvSpPr>
        <p:spPr>
          <a:xfrm>
            <a:off x="6217920" y="4480560"/>
            <a:ext cx="5029200" cy="1371600"/>
          </a:xfrm>
          <a:prstGeom prst="rect">
            <a:avLst/>
          </a:prstGeom>
          <a:noFill/>
        </p:spPr>
        <p:txBody>
          <a:bodyPr wrap="square" anchor="t">
            <a:spAutoFit/>
          </a:bodyPr>
          <a:lstStyle/>
          <a:p>
            <a:pPr algn="l"/>
            <a:r>
              <a:rPr sz="1400" b="0" i="0">
                <a:solidFill>
                  <a:srgbClr val="0F172A"/>
                </a:solidFill>
                <a:latin typeface="Calibri"/>
              </a:rPr>
              <a:t>Replace the simulated tier upgrade with a Stripe-backed subscription flow.</a:t>
            </a:r>
          </a:p>
        </p:txBody>
      </p:sp>
      <p:sp>
        <p:nvSpPr>
          <p:cNvPr id="12" name="TextBox 11"/>
          <p:cNvSpPr txBox="1"/>
          <p:nvPr/>
        </p:nvSpPr>
        <p:spPr>
          <a:xfrm>
            <a:off x="914400" y="5669280"/>
            <a:ext cx="10332720" cy="365760"/>
          </a:xfrm>
          <a:prstGeom prst="rect">
            <a:avLst/>
          </a:prstGeom>
          <a:noFill/>
        </p:spPr>
        <p:txBody>
          <a:bodyPr wrap="square" anchor="t">
            <a:spAutoFit/>
          </a:bodyPr>
          <a:lstStyle/>
          <a:p>
            <a:pPr algn="l"/>
            <a:r>
              <a:rPr sz="1800" b="1" i="0">
                <a:solidFill>
                  <a:srgbClr val="7C3AED"/>
                </a:solidFill>
                <a:latin typeface="Calibri"/>
              </a:rPr>
              <a:t>Multi-language interface  +  expanded Pulsefy AI training corpus beyond Nottingham folk MIDI</a:t>
            </a:r>
          </a:p>
        </p:txBody>
      </p:sp>
      <p:sp>
        <p:nvSpPr>
          <p:cNvPr id="13" name="TextBox 12"/>
          <p:cNvSpPr txBox="1"/>
          <p:nvPr/>
        </p:nvSpPr>
        <p:spPr>
          <a:xfrm>
            <a:off x="914400" y="6126480"/>
            <a:ext cx="10332720" cy="1371600"/>
          </a:xfrm>
          <a:prstGeom prst="rect">
            <a:avLst/>
          </a:prstGeom>
          <a:noFill/>
        </p:spPr>
        <p:txBody>
          <a:bodyPr wrap="square" anchor="t">
            <a:spAutoFit/>
          </a:bodyPr>
          <a:lstStyle/>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3108960"/>
            <a:ext cx="12191695" cy="365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0"/>
            <a:ext cx="11247120" cy="1280160"/>
          </a:xfrm>
          <a:prstGeom prst="rect">
            <a:avLst/>
          </a:prstGeom>
          <a:noFill/>
        </p:spPr>
        <p:txBody>
          <a:bodyPr wrap="square" anchor="t">
            <a:spAutoFit/>
          </a:bodyPr>
          <a:lstStyle/>
          <a:p>
            <a:pPr algn="ctr"/>
            <a:r>
              <a:rPr sz="7200" b="1" i="0">
                <a:solidFill>
                  <a:srgbClr val="0F172A"/>
                </a:solidFill>
                <a:latin typeface="Calibri"/>
              </a:rPr>
              <a:t>Thank you.</a:t>
            </a:r>
          </a:p>
        </p:txBody>
      </p:sp>
      <p:sp>
        <p:nvSpPr>
          <p:cNvPr id="4" name="TextBox 3"/>
          <p:cNvSpPr txBox="1"/>
          <p:nvPr/>
        </p:nvSpPr>
        <p:spPr>
          <a:xfrm>
            <a:off x="457200" y="3657600"/>
            <a:ext cx="11247120" cy="731520"/>
          </a:xfrm>
          <a:prstGeom prst="rect">
            <a:avLst/>
          </a:prstGeom>
          <a:noFill/>
        </p:spPr>
        <p:txBody>
          <a:bodyPr wrap="square" anchor="t">
            <a:spAutoFit/>
          </a:bodyPr>
          <a:lstStyle/>
          <a:p>
            <a:pPr algn="ctr"/>
            <a:r>
              <a:rPr sz="3200" b="0" i="1">
                <a:solidFill>
                  <a:srgbClr val="7C3AED"/>
                </a:solidFill>
                <a:latin typeface="Calibri"/>
              </a:rPr>
              <a:t>Questions?</a:t>
            </a:r>
          </a:p>
        </p:txBody>
      </p:sp>
      <p:sp>
        <p:nvSpPr>
          <p:cNvPr id="5" name="TextBox 4"/>
          <p:cNvSpPr txBox="1"/>
          <p:nvPr/>
        </p:nvSpPr>
        <p:spPr>
          <a:xfrm>
            <a:off x="457200" y="5943600"/>
            <a:ext cx="11247120" cy="365760"/>
          </a:xfrm>
          <a:prstGeom prst="rect">
            <a:avLst/>
          </a:prstGeom>
          <a:noFill/>
        </p:spPr>
        <p:txBody>
          <a:bodyPr wrap="square" anchor="t">
            <a:spAutoFit/>
          </a:bodyPr>
          <a:lstStyle/>
          <a:p>
            <a:pPr algn="ctr"/>
            <a:r>
              <a:rPr sz="1200" b="0" i="0">
                <a:solidFill>
                  <a:srgbClr val="64748B"/>
                </a:solidFill>
                <a:latin typeface="Calibri"/>
              </a:rPr>
              <a:t>Vlad DUMITRU  ·  Pulsefy  ·  UPB FILS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