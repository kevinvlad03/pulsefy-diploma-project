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66"/>
  </p:normalViewPr>
  <p:slideViewPr>
    <p:cSldViewPr snapToGrid="0" snapToObjects="1">
      <p:cViewPr varScale="1">
        <p:scale>
          <a:sx n="115" d="100"/>
          <a:sy n="115" d="100"/>
        </p:scale>
        <p:origin x="664"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16728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 I'm Vlad Dumitru, presenting my diploma project, Pulsefy — an AI-assisted ad creation platform built under the guidance of Conf. dr. ing. Iuliana Marin at the Faculty of Engineering in Foreign Languages.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Short-form social video is now the dominant advertising surface for small businesses and creators. The current options are narrow: hire an agency at thousands of euros per campaign, stitch together four separate creative tools at the cost of hours per ad, or skip advertising and lose visibility. This is the gap Pulsefy targets.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Pulsefy unifies the four generation steps that normally live in separate apps into a single web application. The user enters a brief, the system produces a finished MP4 in the requested aspect ratio, and the same account covers both free and premium workflows plus a thin social layer with the Jamendo catalog and a creator leaderboard.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core features. The four AI subsystems on the left side of the slide handle generation. The two on the right cover catalog browsing and the social-layer leaderboard. Together they cover the full lifecycle of a short-form ad from brief to publish-ready asset, with no need to leave the application.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pipeline takes a single product brief, fans out into four parallel generation stages, and converges on FFmpeg assembly. The result is a single MP4 in the user's chosen aspect ratio, ready for upload to the target social platform.</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most substantive original contribution is Pulsefy AI, a custom LSTM music generator I trained from scratch. Building this myself rather than only plugging in Meta's MusicGen meant I had to implement the full pipeline — MIDI preprocessing and tokenisation, the PyTorch training loop on Apple Metal, and subprocess integration with the Node backend. Inference is fast enough that the free tier feels instant, which was the design goal.</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training corpus was 1,034 MIDI files, parsed into 573,692 tokens, used to train an LSTM with roughly 908 thousand parameters across two recurrent layers. Training ran for 30 epochs on Apple Metal hardware. Validation loss converged from 0.51 to 0.43 in the first three epochs, which indicates the architecture fits the dataset cleanly. The final checkpoint ships with the application.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tier model is deliberately quality-gated rather than feature-gated. Free users get the Pulsefy AI engine, instant but acoustically simpler, with English voiceover and three scene images. Premium users substitute Meta's MusicGen, slower but higher quality, and unlock multilingual voiceover and the fourth scene. The free tier is functionally complete — it is not a trial.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Sound Studio, the central authoring surface. Four tabs — Music, Voiceover, Video, and Upload — correspond to the four AI subsystems. The session state persists as the user moves between tabs, so they can generate the music and the voiceover separately and combine them in the Video tab without losing their work.</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benchmarked the platform on a Mac M2 Pro across three Instagram Reel scenarios. The free-tier pipeline completes a full ad in around three minutes; the premium tier takes about nine minutes, with MusicGen accounting for most of that time. Quality assessment of the generated content is out of scope for this benchmark — the goal here was to verify the latency claim from Chapter 1.</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current limitations: the benchmark is small, MusicGen latency dominates the premium pipeline, the UI is desktop-only, and premium upgrades are simulated. Four corresponding future-work items address each of these: GPU-backed inference for MusicGen, a larger listening study with objective quality metrics, a mobile-responsive layout, and integration with a real payment processor along with multi-language UI support.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for your attention. I welcome your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p:cNvSpPr/>
          <p:nvPr/>
        </p:nvSpPr>
        <p:spPr>
          <a:xfrm>
            <a:off x="0" y="3108960"/>
            <a:ext cx="12191695" cy="36576"/>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103120"/>
            <a:ext cx="10332720" cy="1005840"/>
          </a:xfrm>
          <a:prstGeom prst="rect">
            <a:avLst/>
          </a:prstGeom>
          <a:noFill/>
        </p:spPr>
        <p:txBody>
          <a:bodyPr wrap="square" anchor="t">
            <a:spAutoFit/>
          </a:bodyPr>
          <a:lstStyle/>
          <a:p>
            <a:pPr algn="l"/>
            <a:r>
              <a:rPr sz="8000" b="1" i="0" dirty="0" err="1">
                <a:solidFill>
                  <a:srgbClr val="F8FAFC"/>
                </a:solidFill>
                <a:latin typeface="Calibri"/>
              </a:rPr>
              <a:t>Pulsefy</a:t>
            </a:r>
            <a:endParaRPr sz="8000" b="1" i="0" dirty="0">
              <a:solidFill>
                <a:srgbClr val="F8FAFC"/>
              </a:solidFill>
              <a:latin typeface="Calibri"/>
            </a:endParaRPr>
          </a:p>
        </p:txBody>
      </p:sp>
      <p:sp>
        <p:nvSpPr>
          <p:cNvPr id="4" name="TextBox 3"/>
          <p:cNvSpPr txBox="1"/>
          <p:nvPr/>
        </p:nvSpPr>
        <p:spPr>
          <a:xfrm>
            <a:off x="914400" y="3291840"/>
            <a:ext cx="10332720" cy="640080"/>
          </a:xfrm>
          <a:prstGeom prst="rect">
            <a:avLst/>
          </a:prstGeom>
          <a:noFill/>
        </p:spPr>
        <p:txBody>
          <a:bodyPr wrap="square" anchor="t">
            <a:spAutoFit/>
          </a:bodyPr>
          <a:lstStyle/>
          <a:p>
            <a:pPr algn="l"/>
            <a:r>
              <a:rPr sz="2200" b="0" i="0">
                <a:solidFill>
                  <a:srgbClr val="94A3B8"/>
                </a:solidFill>
                <a:latin typeface="Calibri"/>
              </a:rPr>
              <a:t>AI-Assisted Ad Creation Platform for Short-Form Social Video</a:t>
            </a:r>
          </a:p>
        </p:txBody>
      </p:sp>
      <p:sp>
        <p:nvSpPr>
          <p:cNvPr id="5" name="TextBox 4"/>
          <p:cNvSpPr txBox="1"/>
          <p:nvPr/>
        </p:nvSpPr>
        <p:spPr>
          <a:xfrm>
            <a:off x="914400" y="5120640"/>
            <a:ext cx="5029200" cy="323165"/>
          </a:xfrm>
          <a:prstGeom prst="rect">
            <a:avLst/>
          </a:prstGeom>
          <a:noFill/>
        </p:spPr>
        <p:txBody>
          <a:bodyPr wrap="square" anchor="t">
            <a:spAutoFit/>
          </a:bodyPr>
          <a:lstStyle/>
          <a:p>
            <a:pPr algn="l"/>
            <a:r>
              <a:rPr sz="1500" b="1" i="0" dirty="0">
                <a:solidFill>
                  <a:srgbClr val="F8FAFC"/>
                </a:solidFill>
                <a:latin typeface="Calibri"/>
              </a:rPr>
              <a:t>Vlad</a:t>
            </a:r>
            <a:r>
              <a:rPr lang="en-US" sz="1500" b="1" i="0" dirty="0">
                <a:solidFill>
                  <a:srgbClr val="F8FAFC"/>
                </a:solidFill>
                <a:latin typeface="Calibri"/>
              </a:rPr>
              <a:t>-Andrei</a:t>
            </a:r>
            <a:r>
              <a:rPr sz="1500" b="1" i="0" dirty="0">
                <a:solidFill>
                  <a:srgbClr val="F8FAFC"/>
                </a:solidFill>
                <a:latin typeface="Calibri"/>
              </a:rPr>
              <a:t> DUMITRU</a:t>
            </a:r>
          </a:p>
        </p:txBody>
      </p:sp>
      <p:sp>
        <p:nvSpPr>
          <p:cNvPr id="6" name="TextBox 5"/>
          <p:cNvSpPr txBox="1"/>
          <p:nvPr/>
        </p:nvSpPr>
        <p:spPr>
          <a:xfrm>
            <a:off x="914400" y="5486400"/>
            <a:ext cx="5029200" cy="365760"/>
          </a:xfrm>
          <a:prstGeom prst="rect">
            <a:avLst/>
          </a:prstGeom>
          <a:noFill/>
        </p:spPr>
        <p:txBody>
          <a:bodyPr wrap="square" anchor="t">
            <a:spAutoFit/>
          </a:bodyPr>
          <a:lstStyle/>
          <a:p>
            <a:pPr algn="l"/>
            <a:r>
              <a:rPr sz="1200" b="0" i="0">
                <a:solidFill>
                  <a:srgbClr val="94A3B8"/>
                </a:solidFill>
                <a:latin typeface="Calibri"/>
              </a:rPr>
              <a:t>Diploma project, June 2026</a:t>
            </a:r>
          </a:p>
        </p:txBody>
      </p:sp>
      <p:sp>
        <p:nvSpPr>
          <p:cNvPr id="7" name="TextBox 6"/>
          <p:cNvSpPr txBox="1"/>
          <p:nvPr/>
        </p:nvSpPr>
        <p:spPr>
          <a:xfrm>
            <a:off x="7132320" y="5120640"/>
            <a:ext cx="4206240" cy="365760"/>
          </a:xfrm>
          <a:prstGeom prst="rect">
            <a:avLst/>
          </a:prstGeom>
          <a:noFill/>
        </p:spPr>
        <p:txBody>
          <a:bodyPr wrap="square" anchor="t">
            <a:spAutoFit/>
          </a:bodyPr>
          <a:lstStyle/>
          <a:p>
            <a:pPr algn="r"/>
            <a:r>
              <a:rPr sz="1100" b="0" i="0">
                <a:solidFill>
                  <a:srgbClr val="94A3B8"/>
                </a:solidFill>
                <a:latin typeface="Calibri"/>
              </a:rPr>
              <a:t>Coordinator</a:t>
            </a:r>
          </a:p>
        </p:txBody>
      </p:sp>
      <p:sp>
        <p:nvSpPr>
          <p:cNvPr id="8" name="TextBox 7"/>
          <p:cNvSpPr txBox="1"/>
          <p:nvPr/>
        </p:nvSpPr>
        <p:spPr>
          <a:xfrm>
            <a:off x="7132320" y="5394960"/>
            <a:ext cx="4206240" cy="365760"/>
          </a:xfrm>
          <a:prstGeom prst="rect">
            <a:avLst/>
          </a:prstGeom>
          <a:noFill/>
        </p:spPr>
        <p:txBody>
          <a:bodyPr wrap="square" anchor="t">
            <a:spAutoFit/>
          </a:bodyPr>
          <a:lstStyle/>
          <a:p>
            <a:pPr algn="r"/>
            <a:r>
              <a:rPr sz="1400" b="1" i="0">
                <a:solidFill>
                  <a:srgbClr val="F8FAFC"/>
                </a:solidFill>
                <a:latin typeface="Calibri"/>
              </a:rPr>
              <a:t>Conf. dr. ing. Iuliana MARIN</a:t>
            </a:r>
          </a:p>
        </p:txBody>
      </p:sp>
      <p:sp>
        <p:nvSpPr>
          <p:cNvPr id="9" name="TextBox 8"/>
          <p:cNvSpPr txBox="1"/>
          <p:nvPr/>
        </p:nvSpPr>
        <p:spPr>
          <a:xfrm>
            <a:off x="7132320" y="5760720"/>
            <a:ext cx="4206240" cy="246221"/>
          </a:xfrm>
          <a:prstGeom prst="rect">
            <a:avLst/>
          </a:prstGeom>
          <a:noFill/>
        </p:spPr>
        <p:txBody>
          <a:bodyPr wrap="square" anchor="t">
            <a:spAutoFit/>
          </a:bodyPr>
          <a:lstStyle/>
          <a:p>
            <a:pPr algn="r"/>
            <a:r>
              <a:rPr sz="1000" b="0" i="0" dirty="0">
                <a:solidFill>
                  <a:srgbClr val="94A3B8"/>
                </a:solidFill>
                <a:latin typeface="Calibri"/>
              </a:rPr>
              <a:t>Faculty of Engineering in Foreign Languages, U</a:t>
            </a:r>
            <a:r>
              <a:rPr lang="en-US" sz="1000" b="0" i="0" dirty="0">
                <a:solidFill>
                  <a:srgbClr val="94A3B8"/>
                </a:solidFill>
                <a:latin typeface="Calibri"/>
              </a:rPr>
              <a:t>NST</a:t>
            </a:r>
            <a:r>
              <a:rPr sz="1000" b="0" i="0" dirty="0">
                <a:solidFill>
                  <a:srgbClr val="94A3B8"/>
                </a:solidFill>
                <a:latin typeface="Calibri"/>
              </a:rPr>
              <a:t>PB</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Context: short-form social video advertising</a:t>
            </a:r>
          </a:p>
        </p:txBody>
      </p:sp>
      <p:sp>
        <p:nvSpPr>
          <p:cNvPr id="4" name="TextBox 3"/>
          <p:cNvSpPr txBox="1"/>
          <p:nvPr/>
        </p:nvSpPr>
        <p:spPr>
          <a:xfrm>
            <a:off x="914400" y="1737360"/>
            <a:ext cx="10332720" cy="1463040"/>
          </a:xfrm>
          <a:prstGeom prst="rect">
            <a:avLst/>
          </a:prstGeom>
          <a:noFill/>
        </p:spPr>
        <p:txBody>
          <a:bodyPr wrap="square" anchor="t">
            <a:spAutoFit/>
          </a:bodyPr>
          <a:lstStyle/>
          <a:p>
            <a:pPr algn="l"/>
            <a:r>
              <a:rPr sz="1500" b="0" i="0">
                <a:solidFill>
                  <a:srgbClr val="F8FAFC"/>
                </a:solidFill>
                <a:latin typeface="Calibri"/>
              </a:rPr>
              <a:t>TikTok, Instagram Reels, and YouTube Shorts have become the dominant surface for product advertising. The format demands frequent posting, vertical video, and audio-first content. The production cost gap between professional agency work and what an individual creator can produce alone has widened.</a:t>
            </a:r>
          </a:p>
        </p:txBody>
      </p:sp>
      <p:sp>
        <p:nvSpPr>
          <p:cNvPr id="5" name="Rounded Rectangle 4"/>
          <p:cNvSpPr/>
          <p:nvPr/>
        </p:nvSpPr>
        <p:spPr>
          <a:xfrm>
            <a:off x="914400" y="3383280"/>
            <a:ext cx="10332720" cy="29260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280160" y="3566160"/>
            <a:ext cx="9601200" cy="457200"/>
          </a:xfrm>
          <a:prstGeom prst="rect">
            <a:avLst/>
          </a:prstGeom>
          <a:noFill/>
        </p:spPr>
        <p:txBody>
          <a:bodyPr wrap="square" anchor="t">
            <a:spAutoFit/>
          </a:bodyPr>
          <a:lstStyle/>
          <a:p>
            <a:pPr algn="l"/>
            <a:r>
              <a:rPr sz="1600" b="1" i="0">
                <a:solidFill>
                  <a:srgbClr val="A78BFA"/>
                </a:solidFill>
                <a:latin typeface="Calibri"/>
              </a:rPr>
              <a:t>Three options currently available to a small advertiser</a:t>
            </a:r>
          </a:p>
        </p:txBody>
      </p:sp>
      <p:sp>
        <p:nvSpPr>
          <p:cNvPr id="7" name="TextBox 6"/>
          <p:cNvSpPr txBox="1"/>
          <p:nvPr/>
        </p:nvSpPr>
        <p:spPr>
          <a:xfrm>
            <a:off x="1280160" y="4206240"/>
            <a:ext cx="3108960" cy="365760"/>
          </a:xfrm>
          <a:prstGeom prst="rect">
            <a:avLst/>
          </a:prstGeom>
          <a:noFill/>
        </p:spPr>
        <p:txBody>
          <a:bodyPr wrap="square" anchor="t">
            <a:spAutoFit/>
          </a:bodyPr>
          <a:lstStyle/>
          <a:p>
            <a:pPr algn="l"/>
            <a:r>
              <a:rPr sz="1500" b="1" i="0">
                <a:solidFill>
                  <a:srgbClr val="F8FAFC"/>
                </a:solidFill>
                <a:latin typeface="Calibri"/>
              </a:rPr>
              <a:t>Hire an agency</a:t>
            </a:r>
          </a:p>
        </p:txBody>
      </p:sp>
      <p:sp>
        <p:nvSpPr>
          <p:cNvPr id="8" name="TextBox 7"/>
          <p:cNvSpPr txBox="1"/>
          <p:nvPr/>
        </p:nvSpPr>
        <p:spPr>
          <a:xfrm>
            <a:off x="1280160" y="4617720"/>
            <a:ext cx="3108960" cy="1463040"/>
          </a:xfrm>
          <a:prstGeom prst="rect">
            <a:avLst/>
          </a:prstGeom>
          <a:noFill/>
        </p:spPr>
        <p:txBody>
          <a:bodyPr wrap="square" anchor="t">
            <a:spAutoFit/>
          </a:bodyPr>
          <a:lstStyle/>
          <a:p>
            <a:pPr algn="l"/>
            <a:r>
              <a:rPr sz="1200" b="0" i="0">
                <a:solidFill>
                  <a:srgbClr val="94A3B8"/>
                </a:solidFill>
                <a:latin typeface="Calibri"/>
              </a:rPr>
              <a:t>Roughly one to ten thousand euros per campaign. Out of reach for recurring use.</a:t>
            </a:r>
          </a:p>
        </p:txBody>
      </p:sp>
      <p:sp>
        <p:nvSpPr>
          <p:cNvPr id="9" name="TextBox 8"/>
          <p:cNvSpPr txBox="1"/>
          <p:nvPr/>
        </p:nvSpPr>
        <p:spPr>
          <a:xfrm>
            <a:off x="4572000" y="4206240"/>
            <a:ext cx="3108960" cy="365760"/>
          </a:xfrm>
          <a:prstGeom prst="rect">
            <a:avLst/>
          </a:prstGeom>
          <a:noFill/>
        </p:spPr>
        <p:txBody>
          <a:bodyPr wrap="square" anchor="t">
            <a:spAutoFit/>
          </a:bodyPr>
          <a:lstStyle/>
          <a:p>
            <a:pPr algn="l"/>
            <a:r>
              <a:rPr sz="1500" b="1" i="0">
                <a:solidFill>
                  <a:srgbClr val="F8FAFC"/>
                </a:solidFill>
                <a:latin typeface="Calibri"/>
              </a:rPr>
              <a:t>Stitch four DIY tools</a:t>
            </a:r>
          </a:p>
        </p:txBody>
      </p:sp>
      <p:sp>
        <p:nvSpPr>
          <p:cNvPr id="10" name="TextBox 9"/>
          <p:cNvSpPr txBox="1"/>
          <p:nvPr/>
        </p:nvSpPr>
        <p:spPr>
          <a:xfrm>
            <a:off x="4572000" y="4617720"/>
            <a:ext cx="3108960" cy="1463040"/>
          </a:xfrm>
          <a:prstGeom prst="rect">
            <a:avLst/>
          </a:prstGeom>
          <a:noFill/>
        </p:spPr>
        <p:txBody>
          <a:bodyPr wrap="square" anchor="t">
            <a:spAutoFit/>
          </a:bodyPr>
          <a:lstStyle/>
          <a:p>
            <a:pPr algn="l"/>
            <a:r>
              <a:rPr sz="1200" b="0" i="0">
                <a:solidFill>
                  <a:srgbClr val="94A3B8"/>
                </a:solidFill>
                <a:latin typeface="Calibri"/>
              </a:rPr>
              <a:t>Canva, Suno, ElevenLabs, CapCut. Four subscriptions, four interfaces, hours of friction per ad.</a:t>
            </a:r>
          </a:p>
        </p:txBody>
      </p:sp>
      <p:sp>
        <p:nvSpPr>
          <p:cNvPr id="11" name="TextBox 10"/>
          <p:cNvSpPr txBox="1"/>
          <p:nvPr/>
        </p:nvSpPr>
        <p:spPr>
          <a:xfrm>
            <a:off x="7863840" y="4206240"/>
            <a:ext cx="3108960" cy="365760"/>
          </a:xfrm>
          <a:prstGeom prst="rect">
            <a:avLst/>
          </a:prstGeom>
          <a:noFill/>
        </p:spPr>
        <p:txBody>
          <a:bodyPr wrap="square" anchor="t">
            <a:spAutoFit/>
          </a:bodyPr>
          <a:lstStyle/>
          <a:p>
            <a:pPr algn="l"/>
            <a:r>
              <a:rPr sz="1500" b="1" i="0">
                <a:solidFill>
                  <a:srgbClr val="F8FAFC"/>
                </a:solidFill>
                <a:latin typeface="Calibri"/>
              </a:rPr>
              <a:t>Skip advertising</a:t>
            </a:r>
          </a:p>
        </p:txBody>
      </p:sp>
      <p:sp>
        <p:nvSpPr>
          <p:cNvPr id="12" name="TextBox 11"/>
          <p:cNvSpPr txBox="1"/>
          <p:nvPr/>
        </p:nvSpPr>
        <p:spPr>
          <a:xfrm>
            <a:off x="7863840" y="4617720"/>
            <a:ext cx="3108960" cy="1463040"/>
          </a:xfrm>
          <a:prstGeom prst="rect">
            <a:avLst/>
          </a:prstGeom>
          <a:noFill/>
        </p:spPr>
        <p:txBody>
          <a:bodyPr wrap="square" anchor="t">
            <a:spAutoFit/>
          </a:bodyPr>
          <a:lstStyle/>
          <a:p>
            <a:pPr algn="l"/>
            <a:r>
              <a:rPr sz="1200" b="0" i="0">
                <a:solidFill>
                  <a:srgbClr val="94A3B8"/>
                </a:solidFill>
                <a:latin typeface="Calibri"/>
              </a:rPr>
              <a:t>Lose reach on platforms whose algorithms reward consistent posting cadence.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What Pulsefy is</a:t>
            </a:r>
          </a:p>
        </p:txBody>
      </p:sp>
      <p:sp>
        <p:nvSpPr>
          <p:cNvPr id="4" name="TextBox 3"/>
          <p:cNvSpPr txBox="1"/>
          <p:nvPr/>
        </p:nvSpPr>
        <p:spPr>
          <a:xfrm>
            <a:off x="914400" y="1828800"/>
            <a:ext cx="10332720" cy="2560320"/>
          </a:xfrm>
          <a:prstGeom prst="rect">
            <a:avLst/>
          </a:prstGeom>
          <a:noFill/>
        </p:spPr>
        <p:txBody>
          <a:bodyPr wrap="square" anchor="t">
            <a:spAutoFit/>
          </a:bodyPr>
          <a:lstStyle/>
          <a:p>
            <a:pPr algn="l"/>
            <a:r>
              <a:rPr sz="1800" b="0" i="0">
                <a:solidFill>
                  <a:srgbClr val="F8FAFC"/>
                </a:solidFill>
                <a:latin typeface="Calibri"/>
              </a:rPr>
              <a:t>Pulsefy is a web application that unifies four AI generation subsystems behind a single user account: scene image generation, background music generation, voiceover synthesis, and video assembly. The user enters a short product brief and receives a finished MP4 ready for upload to TikTok, Instagram Reels, or YouTube Shorts.</a:t>
            </a:r>
          </a:p>
        </p:txBody>
      </p:sp>
      <p:sp>
        <p:nvSpPr>
          <p:cNvPr id="5" name="Rounded Rectangle 4"/>
          <p:cNvSpPr/>
          <p:nvPr/>
        </p:nvSpPr>
        <p:spPr>
          <a:xfrm>
            <a:off x="914400" y="4480560"/>
            <a:ext cx="10332720" cy="173736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280160" y="4663440"/>
            <a:ext cx="9601200" cy="457200"/>
          </a:xfrm>
          <a:prstGeom prst="rect">
            <a:avLst/>
          </a:prstGeom>
          <a:noFill/>
        </p:spPr>
        <p:txBody>
          <a:bodyPr wrap="square" anchor="t">
            <a:spAutoFit/>
          </a:bodyPr>
          <a:lstStyle/>
          <a:p>
            <a:pPr algn="l"/>
            <a:r>
              <a:rPr sz="1400" b="1" i="0">
                <a:solidFill>
                  <a:srgbClr val="A78BFA"/>
                </a:solidFill>
                <a:latin typeface="Calibri"/>
              </a:rPr>
              <a:t>Scope of the platform</a:t>
            </a:r>
          </a:p>
        </p:txBody>
      </p:sp>
      <p:sp>
        <p:nvSpPr>
          <p:cNvPr id="7" name="TextBox 6"/>
          <p:cNvSpPr txBox="1"/>
          <p:nvPr/>
        </p:nvSpPr>
        <p:spPr>
          <a:xfrm>
            <a:off x="1280160" y="5120640"/>
            <a:ext cx="9601200" cy="1005840"/>
          </a:xfrm>
          <a:prstGeom prst="rect">
            <a:avLst/>
          </a:prstGeom>
          <a:noFill/>
        </p:spPr>
        <p:txBody>
          <a:bodyPr wrap="square" anchor="t">
            <a:spAutoFit/>
          </a:bodyPr>
          <a:lstStyle/>
          <a:p>
            <a:pPr algn="l"/>
            <a:r>
              <a:rPr sz="1300" b="0" i="0">
                <a:solidFill>
                  <a:srgbClr val="F8FAFC"/>
                </a:solidFill>
                <a:latin typeface="Calibri"/>
              </a:rPr>
              <a:t>A free tier with functional coverage across all four subsystems, a premium tier that substitutes higher-quality engines for the same workflows, and a social layer (Jamendo catalog browser and creator leaderboard) that connects users to one another and to Creative Commons music sources.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Core features</a:t>
            </a:r>
          </a:p>
        </p:txBody>
      </p:sp>
      <p:sp>
        <p:nvSpPr>
          <p:cNvPr id="4" name="Rounded Rectangle 3"/>
          <p:cNvSpPr/>
          <p:nvPr/>
        </p:nvSpPr>
        <p:spPr>
          <a:xfrm>
            <a:off x="914400" y="1691640"/>
            <a:ext cx="5029200" cy="13258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3000" y="1828800"/>
            <a:ext cx="4572000" cy="365760"/>
          </a:xfrm>
          <a:prstGeom prst="rect">
            <a:avLst/>
          </a:prstGeom>
          <a:noFill/>
        </p:spPr>
        <p:txBody>
          <a:bodyPr wrap="square" anchor="t">
            <a:spAutoFit/>
          </a:bodyPr>
          <a:lstStyle/>
          <a:p>
            <a:pPr algn="l"/>
            <a:r>
              <a:rPr sz="1300" b="1" i="0">
                <a:solidFill>
                  <a:srgbClr val="A78BFA"/>
                </a:solidFill>
                <a:latin typeface="Calibri"/>
              </a:rPr>
              <a:t>AI scene image generation</a:t>
            </a:r>
          </a:p>
        </p:txBody>
      </p:sp>
      <p:sp>
        <p:nvSpPr>
          <p:cNvPr id="6" name="TextBox 5"/>
          <p:cNvSpPr txBox="1"/>
          <p:nvPr/>
        </p:nvSpPr>
        <p:spPr>
          <a:xfrm>
            <a:off x="1143000" y="2240280"/>
            <a:ext cx="4572000" cy="685800"/>
          </a:xfrm>
          <a:prstGeom prst="rect">
            <a:avLst/>
          </a:prstGeom>
          <a:noFill/>
        </p:spPr>
        <p:txBody>
          <a:bodyPr wrap="square" anchor="t">
            <a:spAutoFit/>
          </a:bodyPr>
          <a:lstStyle/>
          <a:p>
            <a:pPr algn="l"/>
            <a:r>
              <a:rPr sz="1100" b="0" i="0">
                <a:solidFill>
                  <a:srgbClr val="F8FAFC"/>
                </a:solidFill>
                <a:latin typeface="Calibri"/>
              </a:rPr>
              <a:t>Pollinations.ai integration with four named ad shot types and three social aspect ratios (9:16, 1:1, 16:9).</a:t>
            </a:r>
          </a:p>
        </p:txBody>
      </p:sp>
      <p:sp>
        <p:nvSpPr>
          <p:cNvPr id="7" name="Rounded Rectangle 6"/>
          <p:cNvSpPr/>
          <p:nvPr/>
        </p:nvSpPr>
        <p:spPr>
          <a:xfrm>
            <a:off x="6217920" y="1691640"/>
            <a:ext cx="5029200" cy="13258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46520" y="1828800"/>
            <a:ext cx="4572000" cy="365760"/>
          </a:xfrm>
          <a:prstGeom prst="rect">
            <a:avLst/>
          </a:prstGeom>
          <a:noFill/>
        </p:spPr>
        <p:txBody>
          <a:bodyPr wrap="square" anchor="t">
            <a:spAutoFit/>
          </a:bodyPr>
          <a:lstStyle/>
          <a:p>
            <a:pPr algn="l"/>
            <a:r>
              <a:rPr sz="1300" b="1" i="0">
                <a:solidFill>
                  <a:srgbClr val="A78BFA"/>
                </a:solidFill>
                <a:latin typeface="Calibri"/>
              </a:rPr>
              <a:t>Two music engines</a:t>
            </a:r>
          </a:p>
        </p:txBody>
      </p:sp>
      <p:sp>
        <p:nvSpPr>
          <p:cNvPr id="9" name="TextBox 8"/>
          <p:cNvSpPr txBox="1"/>
          <p:nvPr/>
        </p:nvSpPr>
        <p:spPr>
          <a:xfrm>
            <a:off x="6446520" y="2240280"/>
            <a:ext cx="4572000" cy="685800"/>
          </a:xfrm>
          <a:prstGeom prst="rect">
            <a:avLst/>
          </a:prstGeom>
          <a:noFill/>
        </p:spPr>
        <p:txBody>
          <a:bodyPr wrap="square" anchor="t">
            <a:spAutoFit/>
          </a:bodyPr>
          <a:lstStyle/>
          <a:p>
            <a:pPr algn="l"/>
            <a:r>
              <a:rPr sz="1100" b="0" i="0">
                <a:solidFill>
                  <a:srgbClr val="F8FAFC"/>
                </a:solidFill>
                <a:latin typeface="Calibri"/>
              </a:rPr>
              <a:t>Pulsefy AI custom LSTM for instant free-tier output, MusicGen for higher-quality premium output.</a:t>
            </a:r>
          </a:p>
        </p:txBody>
      </p:sp>
      <p:sp>
        <p:nvSpPr>
          <p:cNvPr id="10" name="Rounded Rectangle 9"/>
          <p:cNvSpPr/>
          <p:nvPr/>
        </p:nvSpPr>
        <p:spPr>
          <a:xfrm>
            <a:off x="914400" y="3154680"/>
            <a:ext cx="5029200" cy="13258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143000" y="3291840"/>
            <a:ext cx="4572000" cy="365760"/>
          </a:xfrm>
          <a:prstGeom prst="rect">
            <a:avLst/>
          </a:prstGeom>
          <a:noFill/>
        </p:spPr>
        <p:txBody>
          <a:bodyPr wrap="square" anchor="t">
            <a:spAutoFit/>
          </a:bodyPr>
          <a:lstStyle/>
          <a:p>
            <a:pPr algn="l"/>
            <a:r>
              <a:rPr sz="1300" b="1" i="0">
                <a:solidFill>
                  <a:srgbClr val="A78BFA"/>
                </a:solidFill>
                <a:latin typeface="Calibri"/>
              </a:rPr>
              <a:t>Multilingual voiceover</a:t>
            </a:r>
          </a:p>
        </p:txBody>
      </p:sp>
      <p:sp>
        <p:nvSpPr>
          <p:cNvPr id="12" name="TextBox 11"/>
          <p:cNvSpPr txBox="1"/>
          <p:nvPr/>
        </p:nvSpPr>
        <p:spPr>
          <a:xfrm>
            <a:off x="1143000" y="3703320"/>
            <a:ext cx="4572000" cy="685800"/>
          </a:xfrm>
          <a:prstGeom prst="rect">
            <a:avLst/>
          </a:prstGeom>
          <a:noFill/>
        </p:spPr>
        <p:txBody>
          <a:bodyPr wrap="square" anchor="t">
            <a:spAutoFit/>
          </a:bodyPr>
          <a:lstStyle/>
          <a:p>
            <a:pPr algn="l"/>
            <a:r>
              <a:rPr sz="1100" b="0" i="0">
                <a:solidFill>
                  <a:srgbClr val="F8FAFC"/>
                </a:solidFill>
                <a:latin typeface="Calibri"/>
              </a:rPr>
              <a:t>gTTS-based voiceover synthesis. English on the free tier, dozens of languages on premium.</a:t>
            </a:r>
          </a:p>
        </p:txBody>
      </p:sp>
      <p:sp>
        <p:nvSpPr>
          <p:cNvPr id="13" name="Rounded Rectangle 12"/>
          <p:cNvSpPr/>
          <p:nvPr/>
        </p:nvSpPr>
        <p:spPr>
          <a:xfrm>
            <a:off x="6217920" y="3154680"/>
            <a:ext cx="5029200" cy="13258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46520" y="3291840"/>
            <a:ext cx="4572000" cy="365760"/>
          </a:xfrm>
          <a:prstGeom prst="rect">
            <a:avLst/>
          </a:prstGeom>
          <a:noFill/>
        </p:spPr>
        <p:txBody>
          <a:bodyPr wrap="square" anchor="t">
            <a:spAutoFit/>
          </a:bodyPr>
          <a:lstStyle/>
          <a:p>
            <a:pPr algn="l"/>
            <a:r>
              <a:rPr sz="1300" b="1" i="0">
                <a:solidFill>
                  <a:srgbClr val="A78BFA"/>
                </a:solidFill>
                <a:latin typeface="Calibri"/>
              </a:rPr>
              <a:t>Video assembly and upload</a:t>
            </a:r>
          </a:p>
        </p:txBody>
      </p:sp>
      <p:sp>
        <p:nvSpPr>
          <p:cNvPr id="15" name="TextBox 14"/>
          <p:cNvSpPr txBox="1"/>
          <p:nvPr/>
        </p:nvSpPr>
        <p:spPr>
          <a:xfrm>
            <a:off x="6446520" y="3703320"/>
            <a:ext cx="4572000" cy="685800"/>
          </a:xfrm>
          <a:prstGeom prst="rect">
            <a:avLst/>
          </a:prstGeom>
          <a:noFill/>
        </p:spPr>
        <p:txBody>
          <a:bodyPr wrap="square" anchor="t">
            <a:spAutoFit/>
          </a:bodyPr>
          <a:lstStyle/>
          <a:p>
            <a:pPr algn="l"/>
            <a:r>
              <a:rPr sz="1100" b="0" i="0">
                <a:solidFill>
                  <a:srgbClr val="F8FAFC"/>
                </a:solidFill>
                <a:latin typeface="Calibri"/>
              </a:rPr>
              <a:t>FFmpeg-based assembly with Ken Burns effect, plus a separate upload path that overlays generated audio onto user video.</a:t>
            </a:r>
          </a:p>
        </p:txBody>
      </p:sp>
      <p:sp>
        <p:nvSpPr>
          <p:cNvPr id="16" name="Rounded Rectangle 15"/>
          <p:cNvSpPr/>
          <p:nvPr/>
        </p:nvSpPr>
        <p:spPr>
          <a:xfrm>
            <a:off x="914400" y="4617720"/>
            <a:ext cx="5029200" cy="13258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143000" y="4754880"/>
            <a:ext cx="4572000" cy="365760"/>
          </a:xfrm>
          <a:prstGeom prst="rect">
            <a:avLst/>
          </a:prstGeom>
          <a:noFill/>
        </p:spPr>
        <p:txBody>
          <a:bodyPr wrap="square" anchor="t">
            <a:spAutoFit/>
          </a:bodyPr>
          <a:lstStyle/>
          <a:p>
            <a:pPr algn="l"/>
            <a:r>
              <a:rPr sz="1300" b="1" i="0">
                <a:solidFill>
                  <a:srgbClr val="A78BFA"/>
                </a:solidFill>
                <a:latin typeface="Calibri"/>
              </a:rPr>
              <a:t>Licensed music catalog</a:t>
            </a:r>
          </a:p>
        </p:txBody>
      </p:sp>
      <p:sp>
        <p:nvSpPr>
          <p:cNvPr id="18" name="TextBox 17"/>
          <p:cNvSpPr txBox="1"/>
          <p:nvPr/>
        </p:nvSpPr>
        <p:spPr>
          <a:xfrm>
            <a:off x="1143000" y="5166359"/>
            <a:ext cx="4572000" cy="685800"/>
          </a:xfrm>
          <a:prstGeom prst="rect">
            <a:avLst/>
          </a:prstGeom>
          <a:noFill/>
        </p:spPr>
        <p:txBody>
          <a:bodyPr wrap="square" anchor="t">
            <a:spAutoFit/>
          </a:bodyPr>
          <a:lstStyle/>
          <a:p>
            <a:pPr algn="l"/>
            <a:r>
              <a:rPr sz="1100" b="0" i="0">
                <a:solidFill>
                  <a:srgbClr val="F8FAFC"/>
                </a:solidFill>
                <a:latin typeface="Calibri"/>
              </a:rPr>
              <a:t>Jamendo Creative Commons proxy with search, genre filtering, inline preview, and direct attachment.</a:t>
            </a:r>
          </a:p>
        </p:txBody>
      </p:sp>
      <p:sp>
        <p:nvSpPr>
          <p:cNvPr id="19" name="Rounded Rectangle 18"/>
          <p:cNvSpPr/>
          <p:nvPr/>
        </p:nvSpPr>
        <p:spPr>
          <a:xfrm>
            <a:off x="6217920" y="4617720"/>
            <a:ext cx="5029200" cy="13258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46520" y="4754880"/>
            <a:ext cx="4572000" cy="365760"/>
          </a:xfrm>
          <a:prstGeom prst="rect">
            <a:avLst/>
          </a:prstGeom>
          <a:noFill/>
        </p:spPr>
        <p:txBody>
          <a:bodyPr wrap="square" anchor="t">
            <a:spAutoFit/>
          </a:bodyPr>
          <a:lstStyle/>
          <a:p>
            <a:pPr algn="l"/>
            <a:r>
              <a:rPr sz="1300" b="1" i="0">
                <a:solidFill>
                  <a:srgbClr val="A78BFA"/>
                </a:solidFill>
                <a:latin typeface="Calibri"/>
              </a:rPr>
              <a:t>Creator leaderboard</a:t>
            </a:r>
          </a:p>
        </p:txBody>
      </p:sp>
      <p:sp>
        <p:nvSpPr>
          <p:cNvPr id="21" name="TextBox 20"/>
          <p:cNvSpPr txBox="1"/>
          <p:nvPr/>
        </p:nvSpPr>
        <p:spPr>
          <a:xfrm>
            <a:off x="6446520" y="5166359"/>
            <a:ext cx="4572000" cy="685800"/>
          </a:xfrm>
          <a:prstGeom prst="rect">
            <a:avLst/>
          </a:prstGeom>
          <a:noFill/>
        </p:spPr>
        <p:txBody>
          <a:bodyPr wrap="square" anchor="t">
            <a:spAutoFit/>
          </a:bodyPr>
          <a:lstStyle/>
          <a:p>
            <a:pPr algn="l"/>
            <a:r>
              <a:rPr sz="1100" b="0" i="0">
                <a:solidFill>
                  <a:srgbClr val="F8FAFC"/>
                </a:solidFill>
                <a:latin typeface="Calibri"/>
              </a:rPr>
              <a:t>Public ranking by generation count, surfacing active creators without requiring an explicit follow graph.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Generation pipeline</a:t>
            </a:r>
          </a:p>
        </p:txBody>
      </p:sp>
      <p:sp>
        <p:nvSpPr>
          <p:cNvPr id="4" name="Rounded Rectangle 3"/>
          <p:cNvSpPr/>
          <p:nvPr/>
        </p:nvSpPr>
        <p:spPr>
          <a:xfrm>
            <a:off x="548640" y="2926080"/>
            <a:ext cx="1828800" cy="1371600"/>
          </a:xfrm>
          <a:prstGeom prst="roundRect">
            <a:avLst/>
          </a:prstGeom>
          <a:solidFill>
            <a:srgbClr val="1E293B"/>
          </a:solidFill>
          <a:ln w="15875">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8FAFC"/>
                </a:solidFill>
              </a:rPr>
              <a:t>Product brief</a:t>
            </a:r>
          </a:p>
          <a:p>
            <a:pPr algn="ctr"/>
            <a:r>
              <a:rPr sz="1000" i="1">
                <a:solidFill>
                  <a:srgbClr val="94A3B8"/>
                </a:solidFill>
              </a:rPr>
              <a:t>name, style, ratio</a:t>
            </a:r>
          </a:p>
        </p:txBody>
      </p:sp>
      <p:sp>
        <p:nvSpPr>
          <p:cNvPr id="5" name="Rounded Rectangle 4"/>
          <p:cNvSpPr/>
          <p:nvPr/>
        </p:nvSpPr>
        <p:spPr>
          <a:xfrm>
            <a:off x="3108960" y="1554480"/>
            <a:ext cx="3017520" cy="1005840"/>
          </a:xfrm>
          <a:prstGeom prst="roundRect">
            <a:avLst/>
          </a:prstGeom>
          <a:solidFill>
            <a:srgbClr val="1E293B"/>
          </a:solidFill>
          <a:ln w="15875">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8FAFC"/>
                </a:solidFill>
              </a:rPr>
              <a:t>Scene images</a:t>
            </a:r>
          </a:p>
          <a:p>
            <a:pPr algn="ctr"/>
            <a:r>
              <a:rPr sz="1000" i="1">
                <a:solidFill>
                  <a:srgbClr val="94A3B8"/>
                </a:solidFill>
              </a:rPr>
              <a:t>Pollinations.ai</a:t>
            </a:r>
          </a:p>
        </p:txBody>
      </p:sp>
      <p:sp>
        <p:nvSpPr>
          <p:cNvPr id="6" name="Rounded Rectangle 5"/>
          <p:cNvSpPr/>
          <p:nvPr/>
        </p:nvSpPr>
        <p:spPr>
          <a:xfrm>
            <a:off x="3108960" y="2743200"/>
            <a:ext cx="3017520" cy="1005840"/>
          </a:xfrm>
          <a:prstGeom prst="roundRect">
            <a:avLst/>
          </a:prstGeom>
          <a:solidFill>
            <a:srgbClr val="1E293B"/>
          </a:solidFill>
          <a:ln w="15875">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8FAFC"/>
                </a:solidFill>
              </a:rPr>
              <a:t>Music</a:t>
            </a:r>
          </a:p>
          <a:p>
            <a:pPr algn="ctr"/>
            <a:r>
              <a:rPr sz="1000" i="1">
                <a:solidFill>
                  <a:srgbClr val="94A3B8"/>
                </a:solidFill>
              </a:rPr>
              <a:t>MusicGen / Pulsefy AI</a:t>
            </a:r>
          </a:p>
        </p:txBody>
      </p:sp>
      <p:sp>
        <p:nvSpPr>
          <p:cNvPr id="7" name="Rounded Rectangle 6"/>
          <p:cNvSpPr/>
          <p:nvPr/>
        </p:nvSpPr>
        <p:spPr>
          <a:xfrm>
            <a:off x="3108960" y="3931920"/>
            <a:ext cx="3017520" cy="1005840"/>
          </a:xfrm>
          <a:prstGeom prst="roundRect">
            <a:avLst/>
          </a:prstGeom>
          <a:solidFill>
            <a:srgbClr val="1E293B"/>
          </a:solidFill>
          <a:ln w="15875">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8FAFC"/>
                </a:solidFill>
              </a:rPr>
              <a:t>Voiceover</a:t>
            </a:r>
          </a:p>
          <a:p>
            <a:pPr algn="ctr"/>
            <a:r>
              <a:rPr sz="1000" i="1">
                <a:solidFill>
                  <a:srgbClr val="94A3B8"/>
                </a:solidFill>
              </a:rPr>
              <a:t>gTTS</a:t>
            </a:r>
          </a:p>
        </p:txBody>
      </p:sp>
      <p:sp>
        <p:nvSpPr>
          <p:cNvPr id="8" name="Rounded Rectangle 7"/>
          <p:cNvSpPr/>
          <p:nvPr/>
        </p:nvSpPr>
        <p:spPr>
          <a:xfrm>
            <a:off x="3108960" y="5120640"/>
            <a:ext cx="3017520" cy="1005840"/>
          </a:xfrm>
          <a:prstGeom prst="roundRect">
            <a:avLst/>
          </a:prstGeom>
          <a:solidFill>
            <a:srgbClr val="1E293B"/>
          </a:solidFill>
          <a:ln w="15875">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8FAFC"/>
                </a:solidFill>
              </a:rPr>
              <a:t>Assembly</a:t>
            </a:r>
          </a:p>
          <a:p>
            <a:pPr algn="ctr"/>
            <a:r>
              <a:rPr sz="1000" i="1">
                <a:solidFill>
                  <a:srgbClr val="94A3B8"/>
                </a:solidFill>
              </a:rPr>
              <a:t>FFmpeg + Ken Burns</a:t>
            </a:r>
          </a:p>
        </p:txBody>
      </p:sp>
      <p:sp>
        <p:nvSpPr>
          <p:cNvPr id="9" name="Rounded Rectangle 8"/>
          <p:cNvSpPr/>
          <p:nvPr/>
        </p:nvSpPr>
        <p:spPr>
          <a:xfrm>
            <a:off x="7315200" y="2926080"/>
            <a:ext cx="1828800" cy="1371600"/>
          </a:xfrm>
          <a:prstGeom prst="roundRect">
            <a:avLst/>
          </a:prstGeom>
          <a:solidFill>
            <a:srgbClr val="1E293B"/>
          </a:solidFill>
          <a:ln w="15875">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8FAFC"/>
                </a:solidFill>
              </a:rPr>
              <a:t>MP4 ad</a:t>
            </a:r>
          </a:p>
          <a:p>
            <a:pPr algn="ctr"/>
            <a:r>
              <a:rPr sz="1000" i="1">
                <a:solidFill>
                  <a:srgbClr val="94A3B8"/>
                </a:solidFill>
              </a:rPr>
              <a:t>9:16 / 1:1 / 16:9</a:t>
            </a:r>
          </a:p>
        </p:txBody>
      </p:sp>
      <p:sp>
        <p:nvSpPr>
          <p:cNvPr id="10" name="Rounded Rectangle 9"/>
          <p:cNvSpPr/>
          <p:nvPr/>
        </p:nvSpPr>
        <p:spPr>
          <a:xfrm>
            <a:off x="9875520" y="2926080"/>
            <a:ext cx="1828800" cy="1371600"/>
          </a:xfrm>
          <a:prstGeom prst="roundRect">
            <a:avLst/>
          </a:prstGeom>
          <a:solidFill>
            <a:srgbClr val="162F1F"/>
          </a:solidFill>
          <a:ln w="15875">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8FAFC"/>
                </a:solidFill>
              </a:rPr>
              <a:t>Publish</a:t>
            </a:r>
          </a:p>
          <a:p>
            <a:pPr algn="ctr"/>
            <a:r>
              <a:rPr sz="1000" i="1">
                <a:solidFill>
                  <a:srgbClr val="94A3B8"/>
                </a:solidFill>
              </a:rPr>
              <a:t>TikTok / Reels / Shorts</a:t>
            </a:r>
          </a:p>
        </p:txBody>
      </p:sp>
      <p:sp>
        <p:nvSpPr>
          <p:cNvPr id="11" name="TextBox 10"/>
          <p:cNvSpPr txBox="1"/>
          <p:nvPr/>
        </p:nvSpPr>
        <p:spPr>
          <a:xfrm>
            <a:off x="914400" y="6355080"/>
            <a:ext cx="10332720" cy="411480"/>
          </a:xfrm>
          <a:prstGeom prst="rect">
            <a:avLst/>
          </a:prstGeom>
          <a:noFill/>
        </p:spPr>
        <p:txBody>
          <a:bodyPr wrap="square" anchor="t">
            <a:spAutoFit/>
          </a:bodyPr>
          <a:lstStyle/>
          <a:p>
            <a:pPr algn="ctr"/>
            <a:r>
              <a:rPr sz="1100" b="0" i="1">
                <a:solidFill>
                  <a:srgbClr val="94A3B8"/>
                </a:solidFill>
                <a:latin typeface="Calibri"/>
              </a:rPr>
              <a:t>Single request from the brief, four parallel asset stages, assembly into a single MP4 at the chosen social-platform ratio.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Original contribution: Pulsefy AI</a:t>
            </a:r>
          </a:p>
        </p:txBody>
      </p:sp>
      <p:sp>
        <p:nvSpPr>
          <p:cNvPr id="4" name="TextBox 3"/>
          <p:cNvSpPr txBox="1"/>
          <p:nvPr/>
        </p:nvSpPr>
        <p:spPr>
          <a:xfrm>
            <a:off x="914400" y="1691640"/>
            <a:ext cx="6400800" cy="457200"/>
          </a:xfrm>
          <a:prstGeom prst="rect">
            <a:avLst/>
          </a:prstGeom>
          <a:noFill/>
        </p:spPr>
        <p:txBody>
          <a:bodyPr wrap="square" anchor="t">
            <a:spAutoFit/>
          </a:bodyPr>
          <a:lstStyle/>
          <a:p>
            <a:pPr algn="l"/>
            <a:r>
              <a:rPr sz="1600" b="0" i="1">
                <a:solidFill>
                  <a:srgbClr val="A78BFA"/>
                </a:solidFill>
                <a:latin typeface="Calibri"/>
              </a:rPr>
              <a:t>A custom LSTM music generator trained from scratch</a:t>
            </a:r>
          </a:p>
        </p:txBody>
      </p:sp>
      <p:sp>
        <p:nvSpPr>
          <p:cNvPr id="5" name="TextBox 4"/>
          <p:cNvSpPr txBox="1"/>
          <p:nvPr/>
        </p:nvSpPr>
        <p:spPr>
          <a:xfrm>
            <a:off x="914400" y="2468880"/>
            <a:ext cx="6400800" cy="3657600"/>
          </a:xfrm>
          <a:prstGeom prst="rect">
            <a:avLst/>
          </a:prstGeom>
          <a:noFill/>
        </p:spPr>
        <p:txBody>
          <a:bodyPr wrap="square" anchor="t">
            <a:spAutoFit/>
          </a:bodyPr>
          <a:lstStyle/>
          <a:p>
            <a:pPr algn="l"/>
            <a:r>
              <a:rPr sz="1400" b="0" i="0">
                <a:solidFill>
                  <a:srgbClr val="F8FAFC"/>
                </a:solidFill>
                <a:latin typeface="Calibri"/>
              </a:rPr>
              <a:t>Pulsefy AI is the original technical contribution of the project. It is a token-level next-event LSTM model that generates background music for the free tier of the platform without depending on any third-party service.</a:t>
            </a:r>
          </a:p>
          <a:p>
            <a:pPr algn="l"/>
            <a:endParaRPr sz="1400" b="0" i="0">
              <a:solidFill>
                <a:srgbClr val="F8FAFC"/>
              </a:solidFill>
              <a:latin typeface="Calibri"/>
            </a:endParaRPr>
          </a:p>
          <a:p>
            <a:pPr algn="l"/>
            <a:r>
              <a:rPr sz="1400" b="0" i="0">
                <a:solidFill>
                  <a:srgbClr val="F8FAFC"/>
                </a:solidFill>
                <a:latin typeface="Calibri"/>
              </a:rPr>
              <a:t>Building this rather than relying solely on Meta's MusicGen required end-to-end implementation of three components: a MIDI preprocessing and tokenisation pipeline, a PyTorch training loop with Apple Metal acceleration, and an inference path integrated with the Node.js backend through a Python subprocess.</a:t>
            </a:r>
          </a:p>
          <a:p>
            <a:pPr algn="l"/>
            <a:endParaRPr sz="1400" b="0" i="0">
              <a:solidFill>
                <a:srgbClr val="F8FAFC"/>
              </a:solidFill>
              <a:latin typeface="Calibri"/>
            </a:endParaRPr>
          </a:p>
          <a:p>
            <a:pPr algn="l"/>
            <a:r>
              <a:rPr sz="1400" b="0" i="1">
                <a:solidFill>
                  <a:srgbClr val="F8FAFC"/>
                </a:solidFill>
                <a:latin typeface="Calibri"/>
              </a:rPr>
              <a:t>Inference completes in single-digit seconds on consumer hardware, which makes the free tier feel instant.</a:t>
            </a:r>
          </a:p>
        </p:txBody>
      </p:sp>
      <p:sp>
        <p:nvSpPr>
          <p:cNvPr id="6" name="Rectangle 5"/>
          <p:cNvSpPr/>
          <p:nvPr/>
        </p:nvSpPr>
        <p:spPr>
          <a:xfrm>
            <a:off x="7680960" y="2286000"/>
            <a:ext cx="4114800" cy="3931920"/>
          </a:xfrm>
          <a:prstGeom prst="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i="1">
                <a:solidFill>
                  <a:srgbClr val="94A3B8"/>
                </a:solidFill>
              </a:rPr>
              <a:t>[Insert: training screenshot from
thesis Figure 43]</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Training methodology and results</a:t>
            </a:r>
          </a:p>
        </p:txBody>
      </p:sp>
      <p:sp>
        <p:nvSpPr>
          <p:cNvPr id="4" name="TextBox 3"/>
          <p:cNvSpPr txBox="1"/>
          <p:nvPr/>
        </p:nvSpPr>
        <p:spPr>
          <a:xfrm>
            <a:off x="914400" y="1691640"/>
            <a:ext cx="10332720" cy="457200"/>
          </a:xfrm>
          <a:prstGeom prst="rect">
            <a:avLst/>
          </a:prstGeom>
          <a:noFill/>
        </p:spPr>
        <p:txBody>
          <a:bodyPr wrap="square" anchor="t">
            <a:spAutoFit/>
          </a:bodyPr>
          <a:lstStyle/>
          <a:p>
            <a:pPr algn="l"/>
            <a:r>
              <a:rPr sz="1400" b="0" i="1">
                <a:solidFill>
                  <a:srgbClr val="94A3B8"/>
                </a:solidFill>
                <a:latin typeface="Calibri"/>
              </a:rPr>
              <a:t>Pulsefy AI was trained on a curated MIDI corpus over thirty epochs.</a:t>
            </a:r>
          </a:p>
        </p:txBody>
      </p:sp>
      <p:sp>
        <p:nvSpPr>
          <p:cNvPr id="5" name="TextBox 4"/>
          <p:cNvSpPr txBox="1"/>
          <p:nvPr/>
        </p:nvSpPr>
        <p:spPr>
          <a:xfrm>
            <a:off x="365760" y="2468880"/>
            <a:ext cx="2743200" cy="365760"/>
          </a:xfrm>
          <a:prstGeom prst="rect">
            <a:avLst/>
          </a:prstGeom>
          <a:noFill/>
        </p:spPr>
        <p:txBody>
          <a:bodyPr wrap="square" anchor="t">
            <a:spAutoFit/>
          </a:bodyPr>
          <a:lstStyle/>
          <a:p>
            <a:pPr algn="ctr"/>
            <a:r>
              <a:rPr sz="1200" b="0" i="0">
                <a:solidFill>
                  <a:srgbClr val="94A3B8"/>
                </a:solidFill>
                <a:latin typeface="Calibri"/>
              </a:rPr>
              <a:t>Input corpus</a:t>
            </a:r>
          </a:p>
        </p:txBody>
      </p:sp>
      <p:sp>
        <p:nvSpPr>
          <p:cNvPr id="6" name="TextBox 5"/>
          <p:cNvSpPr txBox="1"/>
          <p:nvPr/>
        </p:nvSpPr>
        <p:spPr>
          <a:xfrm>
            <a:off x="365760" y="2880360"/>
            <a:ext cx="2743200" cy="914400"/>
          </a:xfrm>
          <a:prstGeom prst="rect">
            <a:avLst/>
          </a:prstGeom>
          <a:noFill/>
        </p:spPr>
        <p:txBody>
          <a:bodyPr wrap="square" anchor="t">
            <a:spAutoFit/>
          </a:bodyPr>
          <a:lstStyle/>
          <a:p>
            <a:pPr algn="ctr"/>
            <a:r>
              <a:rPr sz="3800" b="1" i="0">
                <a:solidFill>
                  <a:srgbClr val="A78BFA"/>
                </a:solidFill>
                <a:latin typeface="Calibri"/>
              </a:rPr>
              <a:t>1,034</a:t>
            </a:r>
          </a:p>
        </p:txBody>
      </p:sp>
      <p:sp>
        <p:nvSpPr>
          <p:cNvPr id="7" name="TextBox 6"/>
          <p:cNvSpPr txBox="1"/>
          <p:nvPr/>
        </p:nvSpPr>
        <p:spPr>
          <a:xfrm>
            <a:off x="365760" y="4114800"/>
            <a:ext cx="2743200" cy="457200"/>
          </a:xfrm>
          <a:prstGeom prst="rect">
            <a:avLst/>
          </a:prstGeom>
          <a:noFill/>
        </p:spPr>
        <p:txBody>
          <a:bodyPr wrap="square" anchor="t">
            <a:spAutoFit/>
          </a:bodyPr>
          <a:lstStyle/>
          <a:p>
            <a:pPr algn="ctr"/>
            <a:r>
              <a:rPr sz="1100" b="0" i="1">
                <a:solidFill>
                  <a:srgbClr val="94A3B8"/>
                </a:solidFill>
                <a:latin typeface="Calibri"/>
              </a:rPr>
              <a:t>MIDI files (folk + Christmas)</a:t>
            </a:r>
          </a:p>
        </p:txBody>
      </p:sp>
      <p:sp>
        <p:nvSpPr>
          <p:cNvPr id="8" name="TextBox 7"/>
          <p:cNvSpPr txBox="1"/>
          <p:nvPr/>
        </p:nvSpPr>
        <p:spPr>
          <a:xfrm>
            <a:off x="3291840" y="2468880"/>
            <a:ext cx="2743200" cy="365760"/>
          </a:xfrm>
          <a:prstGeom prst="rect">
            <a:avLst/>
          </a:prstGeom>
          <a:noFill/>
        </p:spPr>
        <p:txBody>
          <a:bodyPr wrap="square" anchor="t">
            <a:spAutoFit/>
          </a:bodyPr>
          <a:lstStyle/>
          <a:p>
            <a:pPr algn="ctr"/>
            <a:r>
              <a:rPr sz="1200" b="0" i="0">
                <a:solidFill>
                  <a:srgbClr val="94A3B8"/>
                </a:solidFill>
                <a:latin typeface="Calibri"/>
              </a:rPr>
              <a:t>Tokens</a:t>
            </a:r>
          </a:p>
        </p:txBody>
      </p:sp>
      <p:sp>
        <p:nvSpPr>
          <p:cNvPr id="9" name="TextBox 8"/>
          <p:cNvSpPr txBox="1"/>
          <p:nvPr/>
        </p:nvSpPr>
        <p:spPr>
          <a:xfrm>
            <a:off x="3291840" y="2880360"/>
            <a:ext cx="2743200" cy="914400"/>
          </a:xfrm>
          <a:prstGeom prst="rect">
            <a:avLst/>
          </a:prstGeom>
          <a:noFill/>
        </p:spPr>
        <p:txBody>
          <a:bodyPr wrap="square" anchor="t">
            <a:spAutoFit/>
          </a:bodyPr>
          <a:lstStyle/>
          <a:p>
            <a:pPr algn="ctr"/>
            <a:r>
              <a:rPr sz="3800" b="1" i="0">
                <a:solidFill>
                  <a:srgbClr val="A78BFA"/>
                </a:solidFill>
                <a:latin typeface="Calibri"/>
              </a:rPr>
              <a:t>573,692</a:t>
            </a:r>
          </a:p>
        </p:txBody>
      </p:sp>
      <p:sp>
        <p:nvSpPr>
          <p:cNvPr id="10" name="TextBox 9"/>
          <p:cNvSpPr txBox="1"/>
          <p:nvPr/>
        </p:nvSpPr>
        <p:spPr>
          <a:xfrm>
            <a:off x="3291840" y="4114800"/>
            <a:ext cx="2743200" cy="457200"/>
          </a:xfrm>
          <a:prstGeom prst="rect">
            <a:avLst/>
          </a:prstGeom>
          <a:noFill/>
        </p:spPr>
        <p:txBody>
          <a:bodyPr wrap="square" anchor="t">
            <a:spAutoFit/>
          </a:bodyPr>
          <a:lstStyle/>
          <a:p>
            <a:pPr algn="ctr"/>
            <a:r>
              <a:rPr sz="1100" b="0" i="1">
                <a:solidFill>
                  <a:srgbClr val="94A3B8"/>
                </a:solidFill>
                <a:latin typeface="Calibri"/>
              </a:rPr>
              <a:t>after preprocessing</a:t>
            </a:r>
          </a:p>
        </p:txBody>
      </p:sp>
      <p:sp>
        <p:nvSpPr>
          <p:cNvPr id="11" name="TextBox 10"/>
          <p:cNvSpPr txBox="1"/>
          <p:nvPr/>
        </p:nvSpPr>
        <p:spPr>
          <a:xfrm>
            <a:off x="6126480" y="2468880"/>
            <a:ext cx="2743200" cy="365760"/>
          </a:xfrm>
          <a:prstGeom prst="rect">
            <a:avLst/>
          </a:prstGeom>
          <a:noFill/>
        </p:spPr>
        <p:txBody>
          <a:bodyPr wrap="square" anchor="t">
            <a:spAutoFit/>
          </a:bodyPr>
          <a:lstStyle/>
          <a:p>
            <a:pPr algn="ctr"/>
            <a:r>
              <a:rPr sz="1200" b="0" i="0">
                <a:solidFill>
                  <a:srgbClr val="94A3B8"/>
                </a:solidFill>
                <a:latin typeface="Calibri"/>
              </a:rPr>
              <a:t>Parameters</a:t>
            </a:r>
          </a:p>
        </p:txBody>
      </p:sp>
      <p:sp>
        <p:nvSpPr>
          <p:cNvPr id="12" name="TextBox 11"/>
          <p:cNvSpPr txBox="1"/>
          <p:nvPr/>
        </p:nvSpPr>
        <p:spPr>
          <a:xfrm>
            <a:off x="6126480" y="2880360"/>
            <a:ext cx="2743200" cy="914400"/>
          </a:xfrm>
          <a:prstGeom prst="rect">
            <a:avLst/>
          </a:prstGeom>
          <a:noFill/>
        </p:spPr>
        <p:txBody>
          <a:bodyPr wrap="square" anchor="t">
            <a:spAutoFit/>
          </a:bodyPr>
          <a:lstStyle/>
          <a:p>
            <a:pPr algn="ctr"/>
            <a:r>
              <a:rPr sz="3800" b="1" i="0">
                <a:solidFill>
                  <a:srgbClr val="A78BFA"/>
                </a:solidFill>
                <a:latin typeface="Calibri"/>
              </a:rPr>
              <a:t>908,708</a:t>
            </a:r>
          </a:p>
        </p:txBody>
      </p:sp>
      <p:sp>
        <p:nvSpPr>
          <p:cNvPr id="13" name="TextBox 12"/>
          <p:cNvSpPr txBox="1"/>
          <p:nvPr/>
        </p:nvSpPr>
        <p:spPr>
          <a:xfrm>
            <a:off x="6126480" y="4114800"/>
            <a:ext cx="2743200" cy="457200"/>
          </a:xfrm>
          <a:prstGeom prst="rect">
            <a:avLst/>
          </a:prstGeom>
          <a:noFill/>
        </p:spPr>
        <p:txBody>
          <a:bodyPr wrap="square" anchor="t">
            <a:spAutoFit/>
          </a:bodyPr>
          <a:lstStyle/>
          <a:p>
            <a:pPr algn="ctr"/>
            <a:r>
              <a:rPr sz="1100" b="0" i="1">
                <a:solidFill>
                  <a:srgbClr val="94A3B8"/>
                </a:solidFill>
                <a:latin typeface="Calibri"/>
              </a:rPr>
              <a:t>2 LSTM layers, 256 hidden</a:t>
            </a:r>
          </a:p>
        </p:txBody>
      </p:sp>
      <p:sp>
        <p:nvSpPr>
          <p:cNvPr id="14" name="TextBox 13"/>
          <p:cNvSpPr txBox="1"/>
          <p:nvPr/>
        </p:nvSpPr>
        <p:spPr>
          <a:xfrm>
            <a:off x="8961120" y="2468880"/>
            <a:ext cx="2743200" cy="365760"/>
          </a:xfrm>
          <a:prstGeom prst="rect">
            <a:avLst/>
          </a:prstGeom>
          <a:noFill/>
        </p:spPr>
        <p:txBody>
          <a:bodyPr wrap="square" anchor="t">
            <a:spAutoFit/>
          </a:bodyPr>
          <a:lstStyle/>
          <a:p>
            <a:pPr algn="ctr"/>
            <a:r>
              <a:rPr sz="1200" b="0" i="0">
                <a:solidFill>
                  <a:srgbClr val="94A3B8"/>
                </a:solidFill>
                <a:latin typeface="Calibri"/>
              </a:rPr>
              <a:t>Epochs</a:t>
            </a:r>
          </a:p>
        </p:txBody>
      </p:sp>
      <p:sp>
        <p:nvSpPr>
          <p:cNvPr id="15" name="TextBox 14"/>
          <p:cNvSpPr txBox="1"/>
          <p:nvPr/>
        </p:nvSpPr>
        <p:spPr>
          <a:xfrm>
            <a:off x="8961120" y="2880360"/>
            <a:ext cx="2743200" cy="914400"/>
          </a:xfrm>
          <a:prstGeom prst="rect">
            <a:avLst/>
          </a:prstGeom>
          <a:noFill/>
        </p:spPr>
        <p:txBody>
          <a:bodyPr wrap="square" anchor="t">
            <a:spAutoFit/>
          </a:bodyPr>
          <a:lstStyle/>
          <a:p>
            <a:pPr algn="ctr"/>
            <a:r>
              <a:rPr sz="3800" b="1" i="0">
                <a:solidFill>
                  <a:srgbClr val="A78BFA"/>
                </a:solidFill>
                <a:latin typeface="Calibri"/>
              </a:rPr>
              <a:t>30</a:t>
            </a:r>
          </a:p>
        </p:txBody>
      </p:sp>
      <p:sp>
        <p:nvSpPr>
          <p:cNvPr id="16" name="TextBox 15"/>
          <p:cNvSpPr txBox="1"/>
          <p:nvPr/>
        </p:nvSpPr>
        <p:spPr>
          <a:xfrm>
            <a:off x="8961120" y="4114800"/>
            <a:ext cx="2743200" cy="457200"/>
          </a:xfrm>
          <a:prstGeom prst="rect">
            <a:avLst/>
          </a:prstGeom>
          <a:noFill/>
        </p:spPr>
        <p:txBody>
          <a:bodyPr wrap="square" anchor="t">
            <a:spAutoFit/>
          </a:bodyPr>
          <a:lstStyle/>
          <a:p>
            <a:pPr algn="ctr"/>
            <a:r>
              <a:rPr sz="1100" b="0" i="1">
                <a:solidFill>
                  <a:srgbClr val="94A3B8"/>
                </a:solidFill>
                <a:latin typeface="Calibri"/>
              </a:rPr>
              <a:t>on Apple Metal (MPS)</a:t>
            </a:r>
          </a:p>
        </p:txBody>
      </p:sp>
      <p:sp>
        <p:nvSpPr>
          <p:cNvPr id="17" name="Rounded Rectangle 16"/>
          <p:cNvSpPr/>
          <p:nvPr/>
        </p:nvSpPr>
        <p:spPr>
          <a:xfrm>
            <a:off x="914400" y="4846320"/>
            <a:ext cx="10332720" cy="14630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280160" y="4983480"/>
            <a:ext cx="9601200" cy="457200"/>
          </a:xfrm>
          <a:prstGeom prst="rect">
            <a:avLst/>
          </a:prstGeom>
          <a:noFill/>
        </p:spPr>
        <p:txBody>
          <a:bodyPr wrap="square" anchor="t">
            <a:spAutoFit/>
          </a:bodyPr>
          <a:lstStyle/>
          <a:p>
            <a:pPr algn="l"/>
            <a:r>
              <a:rPr sz="1300" b="1" i="0">
                <a:solidFill>
                  <a:srgbClr val="A78BFA"/>
                </a:solidFill>
                <a:latin typeface="Calibri"/>
              </a:rPr>
              <a:t>Convergence</a:t>
            </a:r>
          </a:p>
        </p:txBody>
      </p:sp>
      <p:sp>
        <p:nvSpPr>
          <p:cNvPr id="19" name="TextBox 18"/>
          <p:cNvSpPr txBox="1"/>
          <p:nvPr/>
        </p:nvSpPr>
        <p:spPr>
          <a:xfrm>
            <a:off x="1280160" y="5394960"/>
            <a:ext cx="9601200" cy="914400"/>
          </a:xfrm>
          <a:prstGeom prst="rect">
            <a:avLst/>
          </a:prstGeom>
          <a:noFill/>
        </p:spPr>
        <p:txBody>
          <a:bodyPr wrap="square" anchor="t">
            <a:spAutoFit/>
          </a:bodyPr>
          <a:lstStyle/>
          <a:p>
            <a:pPr algn="l"/>
            <a:r>
              <a:rPr sz="1200" b="0" i="0">
                <a:solidFill>
                  <a:srgbClr val="F8FAFC"/>
                </a:solidFill>
                <a:latin typeface="Calibri"/>
              </a:rPr>
              <a:t>Validation loss converged from approximately 0.51 at epoch 1 to approximately 0.43 by epoch 3, indicating the model fit the dataset early and continued to improve over the full training run. The final checkpoint ships with the application.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Tier model: functional free, quality-gated premium</a:t>
            </a:r>
          </a:p>
        </p:txBody>
      </p:sp>
      <p:sp>
        <p:nvSpPr>
          <p:cNvPr id="4" name="TextBox 3"/>
          <p:cNvSpPr txBox="1"/>
          <p:nvPr/>
        </p:nvSpPr>
        <p:spPr>
          <a:xfrm>
            <a:off x="914400" y="1737360"/>
            <a:ext cx="10332720" cy="457200"/>
          </a:xfrm>
          <a:prstGeom prst="rect">
            <a:avLst/>
          </a:prstGeom>
          <a:noFill/>
        </p:spPr>
        <p:txBody>
          <a:bodyPr wrap="square" anchor="t">
            <a:spAutoFit/>
          </a:bodyPr>
          <a:lstStyle/>
          <a:p>
            <a:pPr algn="l"/>
            <a:r>
              <a:rPr sz="1400" b="0" i="1">
                <a:solidFill>
                  <a:srgbClr val="94A3B8"/>
                </a:solidFill>
                <a:latin typeface="Calibri"/>
              </a:rPr>
              <a:t>The premium tier does not unlock new feature categories; it substitutes higher-quality engines for the same workflows.</a:t>
            </a:r>
          </a:p>
        </p:txBody>
      </p:sp>
      <p:sp>
        <p:nvSpPr>
          <p:cNvPr id="5" name="Rounded Rectangle 4"/>
          <p:cNvSpPr/>
          <p:nvPr/>
        </p:nvSpPr>
        <p:spPr>
          <a:xfrm>
            <a:off x="548640" y="2651760"/>
            <a:ext cx="5029200" cy="3474720"/>
          </a:xfrm>
          <a:prstGeom prst="roundRect">
            <a:avLst/>
          </a:prstGeom>
          <a:solidFill>
            <a:srgbClr val="1E293B"/>
          </a:solidFill>
          <a:ln w="2540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59" y="2834640"/>
            <a:ext cx="4572000" cy="457200"/>
          </a:xfrm>
          <a:prstGeom prst="rect">
            <a:avLst/>
          </a:prstGeom>
          <a:noFill/>
        </p:spPr>
        <p:txBody>
          <a:bodyPr wrap="square" anchor="t">
            <a:spAutoFit/>
          </a:bodyPr>
          <a:lstStyle/>
          <a:p>
            <a:pPr algn="l"/>
            <a:r>
              <a:rPr sz="2000" b="1" i="0">
                <a:solidFill>
                  <a:srgbClr val="4ADE80"/>
                </a:solidFill>
                <a:latin typeface="Calibri"/>
              </a:rPr>
              <a:t>Free  ·  Pulsefy AI</a:t>
            </a:r>
          </a:p>
        </p:txBody>
      </p:sp>
      <p:sp>
        <p:nvSpPr>
          <p:cNvPr id="7" name="TextBox 6"/>
          <p:cNvSpPr txBox="1"/>
          <p:nvPr/>
        </p:nvSpPr>
        <p:spPr>
          <a:xfrm>
            <a:off x="822959" y="3474720"/>
            <a:ext cx="4572000" cy="548640"/>
          </a:xfrm>
          <a:prstGeom prst="rect">
            <a:avLst/>
          </a:prstGeom>
          <a:noFill/>
        </p:spPr>
        <p:txBody>
          <a:bodyPr wrap="square" anchor="t">
            <a:spAutoFit/>
          </a:bodyPr>
          <a:lstStyle/>
          <a:p>
            <a:pPr algn="l"/>
            <a:r>
              <a:rPr sz="1300" b="0" i="0">
                <a:solidFill>
                  <a:srgbClr val="F8FAFC"/>
                </a:solidFill>
                <a:latin typeface="Calibri"/>
              </a:rPr>
              <a:t>Custom LSTM (908k parameters)</a:t>
            </a:r>
          </a:p>
        </p:txBody>
      </p:sp>
      <p:sp>
        <p:nvSpPr>
          <p:cNvPr id="8" name="TextBox 7"/>
          <p:cNvSpPr txBox="1"/>
          <p:nvPr/>
        </p:nvSpPr>
        <p:spPr>
          <a:xfrm>
            <a:off x="822959" y="4114800"/>
            <a:ext cx="4572000" cy="548640"/>
          </a:xfrm>
          <a:prstGeom prst="rect">
            <a:avLst/>
          </a:prstGeom>
          <a:noFill/>
        </p:spPr>
        <p:txBody>
          <a:bodyPr wrap="square" anchor="t">
            <a:spAutoFit/>
          </a:bodyPr>
          <a:lstStyle/>
          <a:p>
            <a:pPr algn="l"/>
            <a:r>
              <a:rPr sz="1300" b="0" i="0">
                <a:solidFill>
                  <a:srgbClr val="F8FAFC"/>
                </a:solidFill>
                <a:latin typeface="Calibri"/>
              </a:rPr>
              <a:t>Music generation in 3–7 seconds</a:t>
            </a:r>
          </a:p>
        </p:txBody>
      </p:sp>
      <p:sp>
        <p:nvSpPr>
          <p:cNvPr id="9" name="TextBox 8"/>
          <p:cNvSpPr txBox="1"/>
          <p:nvPr/>
        </p:nvSpPr>
        <p:spPr>
          <a:xfrm>
            <a:off x="822959" y="4754880"/>
            <a:ext cx="4572000" cy="548640"/>
          </a:xfrm>
          <a:prstGeom prst="rect">
            <a:avLst/>
          </a:prstGeom>
          <a:noFill/>
        </p:spPr>
        <p:txBody>
          <a:bodyPr wrap="square" anchor="t">
            <a:spAutoFit/>
          </a:bodyPr>
          <a:lstStyle/>
          <a:p>
            <a:pPr algn="l"/>
            <a:r>
              <a:rPr sz="1300" b="0" i="0">
                <a:solidFill>
                  <a:srgbClr val="F8FAFC"/>
                </a:solidFill>
                <a:latin typeface="Calibri"/>
              </a:rPr>
              <a:t>English voiceover via gTTS</a:t>
            </a:r>
          </a:p>
        </p:txBody>
      </p:sp>
      <p:sp>
        <p:nvSpPr>
          <p:cNvPr id="10" name="TextBox 9"/>
          <p:cNvSpPr txBox="1"/>
          <p:nvPr/>
        </p:nvSpPr>
        <p:spPr>
          <a:xfrm>
            <a:off x="822959" y="5394960"/>
            <a:ext cx="4572000" cy="292388"/>
          </a:xfrm>
          <a:prstGeom prst="rect">
            <a:avLst/>
          </a:prstGeom>
          <a:noFill/>
        </p:spPr>
        <p:txBody>
          <a:bodyPr wrap="square" anchor="t">
            <a:spAutoFit/>
          </a:bodyPr>
          <a:lstStyle/>
          <a:p>
            <a:pPr algn="l"/>
            <a:r>
              <a:rPr lang="en-US" sz="1300" b="0" i="0" dirty="0">
                <a:solidFill>
                  <a:srgbClr val="F8FAFC"/>
                </a:solidFill>
                <a:latin typeface="Calibri"/>
              </a:rPr>
              <a:t>Two</a:t>
            </a:r>
            <a:r>
              <a:rPr sz="1300" b="0" i="0" dirty="0">
                <a:solidFill>
                  <a:srgbClr val="F8FAFC"/>
                </a:solidFill>
                <a:latin typeface="Calibri"/>
              </a:rPr>
              <a:t> scene images per ad</a:t>
            </a:r>
          </a:p>
        </p:txBody>
      </p:sp>
      <p:sp>
        <p:nvSpPr>
          <p:cNvPr id="11" name="Rounded Rectangle 10"/>
          <p:cNvSpPr/>
          <p:nvPr/>
        </p:nvSpPr>
        <p:spPr>
          <a:xfrm>
            <a:off x="6583680" y="2651760"/>
            <a:ext cx="5029200" cy="3474720"/>
          </a:xfrm>
          <a:prstGeom prst="roundRect">
            <a:avLst/>
          </a:prstGeom>
          <a:solidFill>
            <a:srgbClr val="1E293B"/>
          </a:solidFill>
          <a:ln w="25400">
            <a:solidFill>
              <a:srgbClr val="FB9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0" y="2834640"/>
            <a:ext cx="4572000" cy="457200"/>
          </a:xfrm>
          <a:prstGeom prst="rect">
            <a:avLst/>
          </a:prstGeom>
          <a:noFill/>
        </p:spPr>
        <p:txBody>
          <a:bodyPr wrap="square" anchor="t">
            <a:spAutoFit/>
          </a:bodyPr>
          <a:lstStyle/>
          <a:p>
            <a:pPr algn="l"/>
            <a:r>
              <a:rPr sz="2000" b="1" i="0">
                <a:solidFill>
                  <a:srgbClr val="FB923C"/>
                </a:solidFill>
                <a:latin typeface="Calibri"/>
              </a:rPr>
              <a:t>Premium  ·  MusicGen</a:t>
            </a:r>
          </a:p>
        </p:txBody>
      </p:sp>
      <p:sp>
        <p:nvSpPr>
          <p:cNvPr id="13" name="TextBox 12"/>
          <p:cNvSpPr txBox="1"/>
          <p:nvPr/>
        </p:nvSpPr>
        <p:spPr>
          <a:xfrm>
            <a:off x="6858000" y="3474720"/>
            <a:ext cx="4572000" cy="548640"/>
          </a:xfrm>
          <a:prstGeom prst="rect">
            <a:avLst/>
          </a:prstGeom>
          <a:noFill/>
        </p:spPr>
        <p:txBody>
          <a:bodyPr wrap="square" anchor="t">
            <a:spAutoFit/>
          </a:bodyPr>
          <a:lstStyle/>
          <a:p>
            <a:pPr algn="l"/>
            <a:r>
              <a:rPr sz="1300" b="0" i="0">
                <a:solidFill>
                  <a:srgbClr val="F8FAFC"/>
                </a:solidFill>
                <a:latin typeface="Calibri"/>
              </a:rPr>
              <a:t>Meta audiocraft (balanced quality)</a:t>
            </a:r>
          </a:p>
        </p:txBody>
      </p:sp>
      <p:sp>
        <p:nvSpPr>
          <p:cNvPr id="14" name="TextBox 13"/>
          <p:cNvSpPr txBox="1"/>
          <p:nvPr/>
        </p:nvSpPr>
        <p:spPr>
          <a:xfrm>
            <a:off x="6858000" y="4114800"/>
            <a:ext cx="4572000" cy="548640"/>
          </a:xfrm>
          <a:prstGeom prst="rect">
            <a:avLst/>
          </a:prstGeom>
          <a:noFill/>
        </p:spPr>
        <p:txBody>
          <a:bodyPr wrap="square" anchor="t">
            <a:spAutoFit/>
          </a:bodyPr>
          <a:lstStyle/>
          <a:p>
            <a:pPr algn="l"/>
            <a:r>
              <a:rPr sz="1300" b="0" i="0">
                <a:solidFill>
                  <a:srgbClr val="F8FAFC"/>
                </a:solidFill>
                <a:latin typeface="Calibri"/>
              </a:rPr>
              <a:t>Music generation in 5–7 minutes</a:t>
            </a:r>
          </a:p>
        </p:txBody>
      </p:sp>
      <p:sp>
        <p:nvSpPr>
          <p:cNvPr id="15" name="TextBox 14"/>
          <p:cNvSpPr txBox="1"/>
          <p:nvPr/>
        </p:nvSpPr>
        <p:spPr>
          <a:xfrm>
            <a:off x="6858000" y="4754880"/>
            <a:ext cx="4572000" cy="548640"/>
          </a:xfrm>
          <a:prstGeom prst="rect">
            <a:avLst/>
          </a:prstGeom>
          <a:noFill/>
        </p:spPr>
        <p:txBody>
          <a:bodyPr wrap="square" anchor="t">
            <a:spAutoFit/>
          </a:bodyPr>
          <a:lstStyle/>
          <a:p>
            <a:pPr algn="l"/>
            <a:r>
              <a:rPr sz="1300" b="0" i="0">
                <a:solidFill>
                  <a:srgbClr val="F8FAFC"/>
                </a:solidFill>
                <a:latin typeface="Calibri"/>
              </a:rPr>
              <a:t>Voiceover in dozens of languages</a:t>
            </a:r>
          </a:p>
        </p:txBody>
      </p:sp>
      <p:sp>
        <p:nvSpPr>
          <p:cNvPr id="16" name="TextBox 15"/>
          <p:cNvSpPr txBox="1"/>
          <p:nvPr/>
        </p:nvSpPr>
        <p:spPr>
          <a:xfrm>
            <a:off x="6858000" y="5394960"/>
            <a:ext cx="4572000" cy="548640"/>
          </a:xfrm>
          <a:prstGeom prst="rect">
            <a:avLst/>
          </a:prstGeom>
          <a:noFill/>
        </p:spPr>
        <p:txBody>
          <a:bodyPr wrap="square" anchor="t">
            <a:spAutoFit/>
          </a:bodyPr>
          <a:lstStyle/>
          <a:p>
            <a:pPr algn="l"/>
            <a:r>
              <a:rPr sz="1300" b="0" i="0">
                <a:solidFill>
                  <a:srgbClr val="F8FAFC"/>
                </a:solidFill>
                <a:latin typeface="Calibri"/>
              </a:rPr>
              <a:t>Up to four scene images per ad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The Sound Studio</a:t>
            </a:r>
          </a:p>
        </p:txBody>
      </p:sp>
      <p:sp>
        <p:nvSpPr>
          <p:cNvPr id="4" name="TextBox 3"/>
          <p:cNvSpPr txBox="1"/>
          <p:nvPr/>
        </p:nvSpPr>
        <p:spPr>
          <a:xfrm>
            <a:off x="914400" y="1691640"/>
            <a:ext cx="10332720" cy="822960"/>
          </a:xfrm>
          <a:prstGeom prst="rect">
            <a:avLst/>
          </a:prstGeom>
          <a:noFill/>
        </p:spPr>
        <p:txBody>
          <a:bodyPr wrap="square" anchor="t">
            <a:spAutoFit/>
          </a:bodyPr>
          <a:lstStyle/>
          <a:p>
            <a:pPr algn="l"/>
            <a:r>
              <a:rPr sz="1300" b="0" i="1">
                <a:solidFill>
                  <a:srgbClr val="94A3B8"/>
                </a:solidFill>
                <a:latin typeface="Calibri"/>
              </a:rPr>
              <a:t>Four tabs correspond to the four AI subsystems. The user moves between them at their own pace and the underlying session state persists across navigations.</a:t>
            </a:r>
          </a:p>
        </p:txBody>
      </p:sp>
      <p:sp>
        <p:nvSpPr>
          <p:cNvPr id="5" name="Rectangle 4"/>
          <p:cNvSpPr/>
          <p:nvPr/>
        </p:nvSpPr>
        <p:spPr>
          <a:xfrm>
            <a:off x="914400" y="2697480"/>
            <a:ext cx="10332720" cy="3657600"/>
          </a:xfrm>
          <a:prstGeom prst="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i="1">
                <a:solidFill>
                  <a:srgbClr val="94A3B8"/>
                </a:solidFill>
              </a:rPr>
              <a:t>[Insert: Sound Studio screenshot — Music tab with the
Pulsefy AI vs MusicGen selector visible]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Performance benchmark</a:t>
            </a:r>
          </a:p>
        </p:txBody>
      </p:sp>
      <p:sp>
        <p:nvSpPr>
          <p:cNvPr id="4" name="TextBox 3"/>
          <p:cNvSpPr txBox="1"/>
          <p:nvPr/>
        </p:nvSpPr>
        <p:spPr>
          <a:xfrm>
            <a:off x="914400" y="1691640"/>
            <a:ext cx="10332720" cy="457200"/>
          </a:xfrm>
          <a:prstGeom prst="rect">
            <a:avLst/>
          </a:prstGeom>
          <a:noFill/>
        </p:spPr>
        <p:txBody>
          <a:bodyPr wrap="square" anchor="t">
            <a:spAutoFit/>
          </a:bodyPr>
          <a:lstStyle/>
          <a:p>
            <a:pPr algn="l"/>
            <a:r>
              <a:rPr sz="1400" b="0" i="1">
                <a:solidFill>
                  <a:srgbClr val="94A3B8"/>
                </a:solidFill>
                <a:latin typeface="Calibri"/>
              </a:rPr>
              <a:t>Three Instagram Reel scenarios, measured on Mac M2 Pro.</a:t>
            </a:r>
          </a:p>
        </p:txBody>
      </p:sp>
      <p:sp>
        <p:nvSpPr>
          <p:cNvPr id="5" name="Rounded Rectangle 4"/>
          <p:cNvSpPr/>
          <p:nvPr/>
        </p:nvSpPr>
        <p:spPr>
          <a:xfrm>
            <a:off x="914400" y="2606040"/>
            <a:ext cx="10332720" cy="7772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 y="2651760"/>
            <a:ext cx="4114800" cy="685800"/>
          </a:xfrm>
          <a:prstGeom prst="rect">
            <a:avLst/>
          </a:prstGeom>
          <a:noFill/>
        </p:spPr>
        <p:txBody>
          <a:bodyPr wrap="square" anchor="ctr">
            <a:spAutoFit/>
          </a:bodyPr>
          <a:lstStyle/>
          <a:p>
            <a:pPr algn="l"/>
            <a:r>
              <a:rPr sz="1500" b="0" i="0">
                <a:solidFill>
                  <a:srgbClr val="F8FAFC"/>
                </a:solidFill>
                <a:latin typeface="Calibri"/>
              </a:rPr>
              <a:t>Manual workflow (Canva + Suno + ElevenLabs + CapCut)</a:t>
            </a:r>
          </a:p>
        </p:txBody>
      </p:sp>
      <p:sp>
        <p:nvSpPr>
          <p:cNvPr id="7" name="TextBox 6"/>
          <p:cNvSpPr txBox="1"/>
          <p:nvPr/>
        </p:nvSpPr>
        <p:spPr>
          <a:xfrm>
            <a:off x="5303520" y="2651760"/>
            <a:ext cx="3200400" cy="685800"/>
          </a:xfrm>
          <a:prstGeom prst="rect">
            <a:avLst/>
          </a:prstGeom>
          <a:noFill/>
        </p:spPr>
        <p:txBody>
          <a:bodyPr wrap="square" anchor="ctr">
            <a:spAutoFit/>
          </a:bodyPr>
          <a:lstStyle/>
          <a:p>
            <a:pPr algn="ctr"/>
            <a:r>
              <a:rPr sz="2200" b="1" i="0">
                <a:solidFill>
                  <a:srgbClr val="94A3B8"/>
                </a:solidFill>
                <a:latin typeface="Calibri"/>
              </a:rPr>
              <a:t>~8 hours</a:t>
            </a:r>
          </a:p>
        </p:txBody>
      </p:sp>
      <p:sp>
        <p:nvSpPr>
          <p:cNvPr id="8" name="TextBox 7"/>
          <p:cNvSpPr txBox="1"/>
          <p:nvPr/>
        </p:nvSpPr>
        <p:spPr>
          <a:xfrm>
            <a:off x="8686800" y="2651760"/>
            <a:ext cx="2468880" cy="685800"/>
          </a:xfrm>
          <a:prstGeom prst="rect">
            <a:avLst/>
          </a:prstGeom>
          <a:noFill/>
        </p:spPr>
        <p:txBody>
          <a:bodyPr wrap="square" anchor="ctr">
            <a:spAutoFit/>
          </a:bodyPr>
          <a:lstStyle/>
          <a:p>
            <a:pPr algn="r"/>
            <a:r>
              <a:rPr sz="1100" b="0" i="1">
                <a:solidFill>
                  <a:srgbClr val="94A3B8"/>
                </a:solidFill>
                <a:latin typeface="Calibri"/>
              </a:rPr>
              <a:t>baseline</a:t>
            </a:r>
          </a:p>
        </p:txBody>
      </p:sp>
      <p:sp>
        <p:nvSpPr>
          <p:cNvPr id="9" name="Rounded Rectangle 8"/>
          <p:cNvSpPr/>
          <p:nvPr/>
        </p:nvSpPr>
        <p:spPr>
          <a:xfrm>
            <a:off x="914400" y="3611880"/>
            <a:ext cx="10332720" cy="7772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88720" y="3657600"/>
            <a:ext cx="4114800" cy="685800"/>
          </a:xfrm>
          <a:prstGeom prst="rect">
            <a:avLst/>
          </a:prstGeom>
          <a:noFill/>
        </p:spPr>
        <p:txBody>
          <a:bodyPr wrap="square" anchor="ctr">
            <a:spAutoFit/>
          </a:bodyPr>
          <a:lstStyle/>
          <a:p>
            <a:pPr algn="l"/>
            <a:r>
              <a:rPr sz="1500" b="0" i="0">
                <a:solidFill>
                  <a:srgbClr val="F8FAFC"/>
                </a:solidFill>
                <a:latin typeface="Calibri"/>
              </a:rPr>
              <a:t>Pulsefy free tier (Pulsefy AI music)</a:t>
            </a:r>
          </a:p>
        </p:txBody>
      </p:sp>
      <p:sp>
        <p:nvSpPr>
          <p:cNvPr id="11" name="TextBox 10"/>
          <p:cNvSpPr txBox="1"/>
          <p:nvPr/>
        </p:nvSpPr>
        <p:spPr>
          <a:xfrm>
            <a:off x="5303520" y="3657600"/>
            <a:ext cx="3200400" cy="685800"/>
          </a:xfrm>
          <a:prstGeom prst="rect">
            <a:avLst/>
          </a:prstGeom>
          <a:noFill/>
        </p:spPr>
        <p:txBody>
          <a:bodyPr wrap="square" anchor="ctr">
            <a:spAutoFit/>
          </a:bodyPr>
          <a:lstStyle/>
          <a:p>
            <a:pPr algn="ctr"/>
            <a:r>
              <a:rPr sz="2200" b="1" i="0">
                <a:solidFill>
                  <a:srgbClr val="4ADE80"/>
                </a:solidFill>
                <a:latin typeface="Calibri"/>
              </a:rPr>
              <a:t>~3 min 11 s</a:t>
            </a:r>
          </a:p>
        </p:txBody>
      </p:sp>
      <p:sp>
        <p:nvSpPr>
          <p:cNvPr id="12" name="TextBox 11"/>
          <p:cNvSpPr txBox="1"/>
          <p:nvPr/>
        </p:nvSpPr>
        <p:spPr>
          <a:xfrm>
            <a:off x="8686800" y="3657600"/>
            <a:ext cx="2468880" cy="685800"/>
          </a:xfrm>
          <a:prstGeom prst="rect">
            <a:avLst/>
          </a:prstGeom>
          <a:noFill/>
        </p:spPr>
        <p:txBody>
          <a:bodyPr wrap="square" anchor="ctr">
            <a:spAutoFit/>
          </a:bodyPr>
          <a:lstStyle/>
          <a:p>
            <a:pPr algn="r"/>
            <a:r>
              <a:rPr sz="1100" b="0" i="1">
                <a:solidFill>
                  <a:srgbClr val="94A3B8"/>
                </a:solidFill>
                <a:latin typeface="Calibri"/>
              </a:rPr>
              <a:t>instant feedback loop</a:t>
            </a:r>
          </a:p>
        </p:txBody>
      </p:sp>
      <p:sp>
        <p:nvSpPr>
          <p:cNvPr id="13" name="Rounded Rectangle 12"/>
          <p:cNvSpPr/>
          <p:nvPr/>
        </p:nvSpPr>
        <p:spPr>
          <a:xfrm>
            <a:off x="914400" y="4617720"/>
            <a:ext cx="10332720" cy="7772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88720" y="4663440"/>
            <a:ext cx="4114800" cy="685800"/>
          </a:xfrm>
          <a:prstGeom prst="rect">
            <a:avLst/>
          </a:prstGeom>
          <a:noFill/>
        </p:spPr>
        <p:txBody>
          <a:bodyPr wrap="square" anchor="ctr">
            <a:spAutoFit/>
          </a:bodyPr>
          <a:lstStyle/>
          <a:p>
            <a:pPr algn="l"/>
            <a:r>
              <a:rPr sz="1500" b="0" i="0">
                <a:solidFill>
                  <a:srgbClr val="F8FAFC"/>
                </a:solidFill>
                <a:latin typeface="Calibri"/>
              </a:rPr>
              <a:t>Pulsefy premium tier (MusicGen music)</a:t>
            </a:r>
          </a:p>
        </p:txBody>
      </p:sp>
      <p:sp>
        <p:nvSpPr>
          <p:cNvPr id="15" name="TextBox 14"/>
          <p:cNvSpPr txBox="1"/>
          <p:nvPr/>
        </p:nvSpPr>
        <p:spPr>
          <a:xfrm>
            <a:off x="5303520" y="4663440"/>
            <a:ext cx="3200400" cy="685800"/>
          </a:xfrm>
          <a:prstGeom prst="rect">
            <a:avLst/>
          </a:prstGeom>
          <a:noFill/>
        </p:spPr>
        <p:txBody>
          <a:bodyPr wrap="square" anchor="ctr">
            <a:spAutoFit/>
          </a:bodyPr>
          <a:lstStyle/>
          <a:p>
            <a:pPr algn="ctr"/>
            <a:r>
              <a:rPr sz="2200" b="1" i="0">
                <a:solidFill>
                  <a:srgbClr val="FB923C"/>
                </a:solidFill>
                <a:latin typeface="Calibri"/>
              </a:rPr>
              <a:t>~9 min 12 s</a:t>
            </a:r>
          </a:p>
        </p:txBody>
      </p:sp>
      <p:sp>
        <p:nvSpPr>
          <p:cNvPr id="16" name="TextBox 15"/>
          <p:cNvSpPr txBox="1"/>
          <p:nvPr/>
        </p:nvSpPr>
        <p:spPr>
          <a:xfrm>
            <a:off x="8686800" y="4663440"/>
            <a:ext cx="2468880" cy="685800"/>
          </a:xfrm>
          <a:prstGeom prst="rect">
            <a:avLst/>
          </a:prstGeom>
          <a:noFill/>
        </p:spPr>
        <p:txBody>
          <a:bodyPr wrap="square" anchor="ctr">
            <a:spAutoFit/>
          </a:bodyPr>
          <a:lstStyle/>
          <a:p>
            <a:pPr algn="r"/>
            <a:r>
              <a:rPr sz="1100" b="0" i="1">
                <a:solidFill>
                  <a:srgbClr val="94A3B8"/>
                </a:solidFill>
                <a:latin typeface="Calibri"/>
              </a:rPr>
              <a:t>MusicGen dominates the time</a:t>
            </a:r>
          </a:p>
        </p:txBody>
      </p:sp>
      <p:sp>
        <p:nvSpPr>
          <p:cNvPr id="17" name="TextBox 16"/>
          <p:cNvSpPr txBox="1"/>
          <p:nvPr/>
        </p:nvSpPr>
        <p:spPr>
          <a:xfrm>
            <a:off x="914400" y="5760720"/>
            <a:ext cx="10332720" cy="548640"/>
          </a:xfrm>
          <a:prstGeom prst="rect">
            <a:avLst/>
          </a:prstGeom>
          <a:noFill/>
        </p:spPr>
        <p:txBody>
          <a:bodyPr wrap="square" anchor="t">
            <a:spAutoFit/>
          </a:bodyPr>
          <a:lstStyle/>
          <a:p>
            <a:pPr algn="l"/>
            <a:r>
              <a:rPr sz="1100" b="0" i="1">
                <a:solidFill>
                  <a:srgbClr val="94A3B8"/>
                </a:solidFill>
                <a:latin typeface="Calibri"/>
              </a:rPr>
              <a:t>Quality assessment was out of scope for the thesis benchmark. A larger listening study with objective audio metrics is identified as future work.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p:cNvSpPr/>
          <p:nvPr/>
        </p:nvSpPr>
        <p:spPr>
          <a:xfrm>
            <a:off x="914400" y="868680"/>
            <a:ext cx="73152" cy="4114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777240"/>
            <a:ext cx="10515600" cy="594360"/>
          </a:xfrm>
          <a:prstGeom prst="rect">
            <a:avLst/>
          </a:prstGeom>
          <a:noFill/>
        </p:spPr>
        <p:txBody>
          <a:bodyPr wrap="square" anchor="t">
            <a:spAutoFit/>
          </a:bodyPr>
          <a:lstStyle/>
          <a:p>
            <a:pPr algn="l"/>
            <a:r>
              <a:rPr sz="2800" b="1" i="0">
                <a:solidFill>
                  <a:srgbClr val="F8FAFC"/>
                </a:solidFill>
                <a:latin typeface="Calibri"/>
              </a:rPr>
              <a:t>Limitations and future work</a:t>
            </a:r>
          </a:p>
        </p:txBody>
      </p:sp>
      <p:sp>
        <p:nvSpPr>
          <p:cNvPr id="4" name="TextBox 3"/>
          <p:cNvSpPr txBox="1"/>
          <p:nvPr/>
        </p:nvSpPr>
        <p:spPr>
          <a:xfrm>
            <a:off x="914400" y="1691640"/>
            <a:ext cx="5029200" cy="457200"/>
          </a:xfrm>
          <a:prstGeom prst="rect">
            <a:avLst/>
          </a:prstGeom>
          <a:noFill/>
        </p:spPr>
        <p:txBody>
          <a:bodyPr wrap="square" anchor="t">
            <a:spAutoFit/>
          </a:bodyPr>
          <a:lstStyle/>
          <a:p>
            <a:pPr algn="l"/>
            <a:r>
              <a:rPr sz="1600" b="1" i="0">
                <a:solidFill>
                  <a:srgbClr val="FB923C"/>
                </a:solidFill>
                <a:latin typeface="Calibri"/>
              </a:rPr>
              <a:t>Current limitations</a:t>
            </a:r>
          </a:p>
        </p:txBody>
      </p:sp>
      <p:sp>
        <p:nvSpPr>
          <p:cNvPr id="5" name="TextBox 4"/>
          <p:cNvSpPr txBox="1"/>
          <p:nvPr/>
        </p:nvSpPr>
        <p:spPr>
          <a:xfrm>
            <a:off x="914400" y="2286000"/>
            <a:ext cx="5029200" cy="320040"/>
          </a:xfrm>
          <a:prstGeom prst="rect">
            <a:avLst/>
          </a:prstGeom>
          <a:noFill/>
        </p:spPr>
        <p:txBody>
          <a:bodyPr wrap="square" anchor="t">
            <a:spAutoFit/>
          </a:bodyPr>
          <a:lstStyle/>
          <a:p>
            <a:pPr algn="l"/>
            <a:r>
              <a:rPr sz="1200" b="1" i="0">
                <a:solidFill>
                  <a:srgbClr val="F8FAFC"/>
                </a:solidFill>
                <a:latin typeface="Calibri"/>
              </a:rPr>
              <a:t>Benchmark scope</a:t>
            </a:r>
          </a:p>
        </p:txBody>
      </p:sp>
      <p:sp>
        <p:nvSpPr>
          <p:cNvPr id="6" name="TextBox 5"/>
          <p:cNvSpPr txBox="1"/>
          <p:nvPr/>
        </p:nvSpPr>
        <p:spPr>
          <a:xfrm>
            <a:off x="914400" y="2606040"/>
            <a:ext cx="5029200" cy="640080"/>
          </a:xfrm>
          <a:prstGeom prst="rect">
            <a:avLst/>
          </a:prstGeom>
          <a:noFill/>
        </p:spPr>
        <p:txBody>
          <a:bodyPr wrap="square" anchor="t">
            <a:spAutoFit/>
          </a:bodyPr>
          <a:lstStyle/>
          <a:p>
            <a:pPr algn="l"/>
            <a:r>
              <a:rPr sz="1100" b="0" i="0">
                <a:solidFill>
                  <a:srgbClr val="94A3B8"/>
                </a:solidFill>
                <a:latin typeface="Calibri"/>
              </a:rPr>
              <a:t>N=3, single hardware, latency-only (no quality assessment).</a:t>
            </a:r>
          </a:p>
        </p:txBody>
      </p:sp>
      <p:sp>
        <p:nvSpPr>
          <p:cNvPr id="7" name="TextBox 6"/>
          <p:cNvSpPr txBox="1"/>
          <p:nvPr/>
        </p:nvSpPr>
        <p:spPr>
          <a:xfrm>
            <a:off x="914400" y="3429000"/>
            <a:ext cx="5029200" cy="320040"/>
          </a:xfrm>
          <a:prstGeom prst="rect">
            <a:avLst/>
          </a:prstGeom>
          <a:noFill/>
        </p:spPr>
        <p:txBody>
          <a:bodyPr wrap="square" anchor="t">
            <a:spAutoFit/>
          </a:bodyPr>
          <a:lstStyle/>
          <a:p>
            <a:pPr algn="l"/>
            <a:r>
              <a:rPr sz="1200" b="1" i="0">
                <a:solidFill>
                  <a:srgbClr val="F8FAFC"/>
                </a:solidFill>
                <a:latin typeface="Calibri"/>
              </a:rPr>
              <a:t>MusicGen latency</a:t>
            </a:r>
          </a:p>
        </p:txBody>
      </p:sp>
      <p:sp>
        <p:nvSpPr>
          <p:cNvPr id="8" name="TextBox 7"/>
          <p:cNvSpPr txBox="1"/>
          <p:nvPr/>
        </p:nvSpPr>
        <p:spPr>
          <a:xfrm>
            <a:off x="914400" y="3749039"/>
            <a:ext cx="5029200" cy="640080"/>
          </a:xfrm>
          <a:prstGeom prst="rect">
            <a:avLst/>
          </a:prstGeom>
          <a:noFill/>
        </p:spPr>
        <p:txBody>
          <a:bodyPr wrap="square" anchor="t">
            <a:spAutoFit/>
          </a:bodyPr>
          <a:lstStyle/>
          <a:p>
            <a:pPr algn="l"/>
            <a:r>
              <a:rPr sz="1100" b="0" i="0">
                <a:solidFill>
                  <a:srgbClr val="94A3B8"/>
                </a:solidFill>
                <a:latin typeface="Calibri"/>
              </a:rPr>
              <a:t>5–7 minutes per request on CPU is the slowest stage of the pipeline.</a:t>
            </a:r>
          </a:p>
        </p:txBody>
      </p:sp>
      <p:sp>
        <p:nvSpPr>
          <p:cNvPr id="9" name="TextBox 8"/>
          <p:cNvSpPr txBox="1"/>
          <p:nvPr/>
        </p:nvSpPr>
        <p:spPr>
          <a:xfrm>
            <a:off x="914400" y="4572000"/>
            <a:ext cx="5029200" cy="320040"/>
          </a:xfrm>
          <a:prstGeom prst="rect">
            <a:avLst/>
          </a:prstGeom>
          <a:noFill/>
        </p:spPr>
        <p:txBody>
          <a:bodyPr wrap="square" anchor="t">
            <a:spAutoFit/>
          </a:bodyPr>
          <a:lstStyle/>
          <a:p>
            <a:pPr algn="l"/>
            <a:r>
              <a:rPr sz="1200" b="1" i="0">
                <a:solidFill>
                  <a:srgbClr val="F8FAFC"/>
                </a:solidFill>
                <a:latin typeface="Calibri"/>
              </a:rPr>
              <a:t>Desktop-only UI</a:t>
            </a:r>
          </a:p>
        </p:txBody>
      </p:sp>
      <p:sp>
        <p:nvSpPr>
          <p:cNvPr id="10" name="TextBox 9"/>
          <p:cNvSpPr txBox="1"/>
          <p:nvPr/>
        </p:nvSpPr>
        <p:spPr>
          <a:xfrm>
            <a:off x="914400" y="4892040"/>
            <a:ext cx="5029200" cy="640080"/>
          </a:xfrm>
          <a:prstGeom prst="rect">
            <a:avLst/>
          </a:prstGeom>
          <a:noFill/>
        </p:spPr>
        <p:txBody>
          <a:bodyPr wrap="square" anchor="t">
            <a:spAutoFit/>
          </a:bodyPr>
          <a:lstStyle/>
          <a:p>
            <a:pPr algn="l"/>
            <a:r>
              <a:rPr sz="1100" b="0" i="0">
                <a:solidFill>
                  <a:srgbClr val="94A3B8"/>
                </a:solidFill>
                <a:latin typeface="Calibri"/>
              </a:rPr>
              <a:t>The four-tab Sound Studio expects a desktop-class viewport.</a:t>
            </a:r>
          </a:p>
        </p:txBody>
      </p:sp>
      <p:sp>
        <p:nvSpPr>
          <p:cNvPr id="11" name="TextBox 10"/>
          <p:cNvSpPr txBox="1"/>
          <p:nvPr/>
        </p:nvSpPr>
        <p:spPr>
          <a:xfrm>
            <a:off x="914400" y="5715000"/>
            <a:ext cx="5029200" cy="320040"/>
          </a:xfrm>
          <a:prstGeom prst="rect">
            <a:avLst/>
          </a:prstGeom>
          <a:noFill/>
        </p:spPr>
        <p:txBody>
          <a:bodyPr wrap="square" anchor="t">
            <a:spAutoFit/>
          </a:bodyPr>
          <a:lstStyle/>
          <a:p>
            <a:pPr algn="l"/>
            <a:r>
              <a:rPr sz="1200" b="1" i="0">
                <a:solidFill>
                  <a:srgbClr val="F8FAFC"/>
                </a:solidFill>
                <a:latin typeface="Calibri"/>
              </a:rPr>
              <a:t>Simulated subscriptions</a:t>
            </a:r>
          </a:p>
        </p:txBody>
      </p:sp>
      <p:sp>
        <p:nvSpPr>
          <p:cNvPr id="12" name="TextBox 11"/>
          <p:cNvSpPr txBox="1"/>
          <p:nvPr/>
        </p:nvSpPr>
        <p:spPr>
          <a:xfrm>
            <a:off x="914400" y="6035040"/>
            <a:ext cx="5029200" cy="640080"/>
          </a:xfrm>
          <a:prstGeom prst="rect">
            <a:avLst/>
          </a:prstGeom>
          <a:noFill/>
        </p:spPr>
        <p:txBody>
          <a:bodyPr wrap="square" anchor="t">
            <a:spAutoFit/>
          </a:bodyPr>
          <a:lstStyle/>
          <a:p>
            <a:pPr algn="l"/>
            <a:r>
              <a:rPr sz="1100" b="0" i="0">
                <a:solidFill>
                  <a:srgbClr val="94A3B8"/>
                </a:solidFill>
                <a:latin typeface="Calibri"/>
              </a:rPr>
              <a:t>Premium upgrade is self-service without a real payment processor.</a:t>
            </a:r>
          </a:p>
        </p:txBody>
      </p:sp>
      <p:sp>
        <p:nvSpPr>
          <p:cNvPr id="13" name="TextBox 12"/>
          <p:cNvSpPr txBox="1"/>
          <p:nvPr/>
        </p:nvSpPr>
        <p:spPr>
          <a:xfrm>
            <a:off x="6400800" y="1691640"/>
            <a:ext cx="5029200" cy="457200"/>
          </a:xfrm>
          <a:prstGeom prst="rect">
            <a:avLst/>
          </a:prstGeom>
          <a:noFill/>
        </p:spPr>
        <p:txBody>
          <a:bodyPr wrap="square" anchor="t">
            <a:spAutoFit/>
          </a:bodyPr>
          <a:lstStyle/>
          <a:p>
            <a:pPr algn="l"/>
            <a:r>
              <a:rPr sz="1600" b="1" i="0">
                <a:solidFill>
                  <a:srgbClr val="A78BFA"/>
                </a:solidFill>
                <a:latin typeface="Calibri"/>
              </a:rPr>
              <a:t>Future work</a:t>
            </a:r>
          </a:p>
        </p:txBody>
      </p:sp>
      <p:sp>
        <p:nvSpPr>
          <p:cNvPr id="14" name="TextBox 13"/>
          <p:cNvSpPr txBox="1"/>
          <p:nvPr/>
        </p:nvSpPr>
        <p:spPr>
          <a:xfrm>
            <a:off x="6400800" y="2286000"/>
            <a:ext cx="5029200" cy="320040"/>
          </a:xfrm>
          <a:prstGeom prst="rect">
            <a:avLst/>
          </a:prstGeom>
          <a:noFill/>
        </p:spPr>
        <p:txBody>
          <a:bodyPr wrap="square" anchor="t">
            <a:spAutoFit/>
          </a:bodyPr>
          <a:lstStyle/>
          <a:p>
            <a:pPr algn="l"/>
            <a:r>
              <a:rPr sz="1200" b="1" i="0">
                <a:solidFill>
                  <a:srgbClr val="F8FAFC"/>
                </a:solidFill>
                <a:latin typeface="Calibri"/>
              </a:rPr>
              <a:t>GPU-backed inference</a:t>
            </a:r>
          </a:p>
        </p:txBody>
      </p:sp>
      <p:sp>
        <p:nvSpPr>
          <p:cNvPr id="15" name="TextBox 14"/>
          <p:cNvSpPr txBox="1"/>
          <p:nvPr/>
        </p:nvSpPr>
        <p:spPr>
          <a:xfrm>
            <a:off x="6400800" y="2606040"/>
            <a:ext cx="5029200" cy="640080"/>
          </a:xfrm>
          <a:prstGeom prst="rect">
            <a:avLst/>
          </a:prstGeom>
          <a:noFill/>
        </p:spPr>
        <p:txBody>
          <a:bodyPr wrap="square" anchor="t">
            <a:spAutoFit/>
          </a:bodyPr>
          <a:lstStyle/>
          <a:p>
            <a:pPr algn="l"/>
            <a:r>
              <a:rPr sz="1100" b="0" i="0">
                <a:solidFill>
                  <a:srgbClr val="94A3B8"/>
                </a:solidFill>
                <a:latin typeface="Calibri"/>
              </a:rPr>
              <a:t>Worker pool on GPU hardware to reduce MusicGen latency to seconds.</a:t>
            </a:r>
          </a:p>
        </p:txBody>
      </p:sp>
      <p:sp>
        <p:nvSpPr>
          <p:cNvPr id="16" name="TextBox 15"/>
          <p:cNvSpPr txBox="1"/>
          <p:nvPr/>
        </p:nvSpPr>
        <p:spPr>
          <a:xfrm>
            <a:off x="6400800" y="3429000"/>
            <a:ext cx="5029200" cy="320040"/>
          </a:xfrm>
          <a:prstGeom prst="rect">
            <a:avLst/>
          </a:prstGeom>
          <a:noFill/>
        </p:spPr>
        <p:txBody>
          <a:bodyPr wrap="square" anchor="t">
            <a:spAutoFit/>
          </a:bodyPr>
          <a:lstStyle/>
          <a:p>
            <a:pPr algn="l"/>
            <a:r>
              <a:rPr sz="1200" b="1" i="0">
                <a:solidFill>
                  <a:srgbClr val="F8FAFC"/>
                </a:solidFill>
                <a:latin typeface="Calibri"/>
              </a:rPr>
              <a:t>Larger validation study</a:t>
            </a:r>
          </a:p>
        </p:txBody>
      </p:sp>
      <p:sp>
        <p:nvSpPr>
          <p:cNvPr id="17" name="TextBox 16"/>
          <p:cNvSpPr txBox="1"/>
          <p:nvPr/>
        </p:nvSpPr>
        <p:spPr>
          <a:xfrm>
            <a:off x="6400800" y="3749039"/>
            <a:ext cx="5029200" cy="640080"/>
          </a:xfrm>
          <a:prstGeom prst="rect">
            <a:avLst/>
          </a:prstGeom>
          <a:noFill/>
        </p:spPr>
        <p:txBody>
          <a:bodyPr wrap="square" anchor="t">
            <a:spAutoFit/>
          </a:bodyPr>
          <a:lstStyle/>
          <a:p>
            <a:pPr algn="l"/>
            <a:r>
              <a:rPr sz="1100" b="0" i="0">
                <a:solidFill>
                  <a:srgbClr val="94A3B8"/>
                </a:solidFill>
                <a:latin typeface="Calibri"/>
              </a:rPr>
              <a:t>N≥20 listeners, MUSHRA scoring, Fréchet Audio Distance for quality.</a:t>
            </a:r>
          </a:p>
        </p:txBody>
      </p:sp>
      <p:sp>
        <p:nvSpPr>
          <p:cNvPr id="18" name="TextBox 17"/>
          <p:cNvSpPr txBox="1"/>
          <p:nvPr/>
        </p:nvSpPr>
        <p:spPr>
          <a:xfrm>
            <a:off x="6400800" y="4572000"/>
            <a:ext cx="5029200" cy="320040"/>
          </a:xfrm>
          <a:prstGeom prst="rect">
            <a:avLst/>
          </a:prstGeom>
          <a:noFill/>
        </p:spPr>
        <p:txBody>
          <a:bodyPr wrap="square" anchor="t">
            <a:spAutoFit/>
          </a:bodyPr>
          <a:lstStyle/>
          <a:p>
            <a:pPr algn="l"/>
            <a:r>
              <a:rPr sz="1200" b="1" i="0">
                <a:solidFill>
                  <a:srgbClr val="F8FAFC"/>
                </a:solidFill>
                <a:latin typeface="Calibri"/>
              </a:rPr>
              <a:t>Mobile-responsive UI</a:t>
            </a:r>
          </a:p>
        </p:txBody>
      </p:sp>
      <p:sp>
        <p:nvSpPr>
          <p:cNvPr id="19" name="TextBox 18"/>
          <p:cNvSpPr txBox="1"/>
          <p:nvPr/>
        </p:nvSpPr>
        <p:spPr>
          <a:xfrm>
            <a:off x="6400800" y="4892040"/>
            <a:ext cx="5029200" cy="640080"/>
          </a:xfrm>
          <a:prstGeom prst="rect">
            <a:avLst/>
          </a:prstGeom>
          <a:noFill/>
        </p:spPr>
        <p:txBody>
          <a:bodyPr wrap="square" anchor="t">
            <a:spAutoFit/>
          </a:bodyPr>
          <a:lstStyle/>
          <a:p>
            <a:pPr algn="l"/>
            <a:r>
              <a:rPr sz="1100" b="0" i="0">
                <a:solidFill>
                  <a:srgbClr val="94A3B8"/>
                </a:solidFill>
                <a:latin typeface="Calibri"/>
              </a:rPr>
              <a:t>Meet creators on the device they shoot their content on.</a:t>
            </a:r>
          </a:p>
        </p:txBody>
      </p:sp>
      <p:sp>
        <p:nvSpPr>
          <p:cNvPr id="20" name="TextBox 19"/>
          <p:cNvSpPr txBox="1"/>
          <p:nvPr/>
        </p:nvSpPr>
        <p:spPr>
          <a:xfrm>
            <a:off x="6400800" y="5715000"/>
            <a:ext cx="5029200" cy="320040"/>
          </a:xfrm>
          <a:prstGeom prst="rect">
            <a:avLst/>
          </a:prstGeom>
          <a:noFill/>
        </p:spPr>
        <p:txBody>
          <a:bodyPr wrap="square" anchor="t">
            <a:spAutoFit/>
          </a:bodyPr>
          <a:lstStyle/>
          <a:p>
            <a:pPr algn="l"/>
            <a:r>
              <a:rPr sz="1200" b="1" i="0">
                <a:solidFill>
                  <a:srgbClr val="F8FAFC"/>
                </a:solidFill>
                <a:latin typeface="Calibri"/>
              </a:rPr>
              <a:t>Production payment + multi-language UI</a:t>
            </a:r>
          </a:p>
        </p:txBody>
      </p:sp>
      <p:sp>
        <p:nvSpPr>
          <p:cNvPr id="21" name="TextBox 20"/>
          <p:cNvSpPr txBox="1"/>
          <p:nvPr/>
        </p:nvSpPr>
        <p:spPr>
          <a:xfrm>
            <a:off x="6400800" y="6035040"/>
            <a:ext cx="5029200" cy="640080"/>
          </a:xfrm>
          <a:prstGeom prst="rect">
            <a:avLst/>
          </a:prstGeom>
          <a:noFill/>
        </p:spPr>
        <p:txBody>
          <a:bodyPr wrap="square" anchor="t">
            <a:spAutoFit/>
          </a:bodyPr>
          <a:lstStyle/>
          <a:p>
            <a:pPr algn="l"/>
            <a:r>
              <a:rPr sz="1100" b="0" i="0">
                <a:solidFill>
                  <a:srgbClr val="94A3B8"/>
                </a:solidFill>
                <a:latin typeface="Calibri"/>
              </a:rPr>
              <a:t>Stripe integration; Romanian and other regional language support.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p:cNvSpPr/>
          <p:nvPr/>
        </p:nvSpPr>
        <p:spPr>
          <a:xfrm>
            <a:off x="0" y="3108960"/>
            <a:ext cx="12191695" cy="36576"/>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468880"/>
            <a:ext cx="11247120" cy="914400"/>
          </a:xfrm>
          <a:prstGeom prst="rect">
            <a:avLst/>
          </a:prstGeom>
          <a:noFill/>
        </p:spPr>
        <p:txBody>
          <a:bodyPr wrap="square" anchor="t">
            <a:spAutoFit/>
          </a:bodyPr>
          <a:lstStyle/>
          <a:p>
            <a:pPr algn="ctr"/>
            <a:r>
              <a:rPr sz="4400" b="1" i="0">
                <a:solidFill>
                  <a:srgbClr val="F8FAFC"/>
                </a:solidFill>
                <a:latin typeface="Calibri"/>
              </a:rPr>
              <a:t>Thank you for your attention.</a:t>
            </a:r>
          </a:p>
        </p:txBody>
      </p:sp>
      <p:sp>
        <p:nvSpPr>
          <p:cNvPr id="4" name="TextBox 3"/>
          <p:cNvSpPr txBox="1"/>
          <p:nvPr/>
        </p:nvSpPr>
        <p:spPr>
          <a:xfrm>
            <a:off x="457200" y="3657600"/>
            <a:ext cx="11247120" cy="548640"/>
          </a:xfrm>
          <a:prstGeom prst="rect">
            <a:avLst/>
          </a:prstGeom>
          <a:noFill/>
        </p:spPr>
        <p:txBody>
          <a:bodyPr wrap="square" anchor="t">
            <a:spAutoFit/>
          </a:bodyPr>
          <a:lstStyle/>
          <a:p>
            <a:pPr algn="ctr"/>
            <a:r>
              <a:rPr sz="2200" b="0" i="1">
                <a:solidFill>
                  <a:srgbClr val="A78BFA"/>
                </a:solidFill>
                <a:latin typeface="Calibri"/>
              </a:rPr>
              <a:t>I welcome your questions.</a:t>
            </a:r>
          </a:p>
        </p:txBody>
      </p:sp>
      <p:sp>
        <p:nvSpPr>
          <p:cNvPr id="5" name="TextBox 4"/>
          <p:cNvSpPr txBox="1"/>
          <p:nvPr/>
        </p:nvSpPr>
        <p:spPr>
          <a:xfrm>
            <a:off x="457200" y="6126480"/>
            <a:ext cx="11247120" cy="365760"/>
          </a:xfrm>
          <a:prstGeom prst="rect">
            <a:avLst/>
          </a:prstGeom>
          <a:noFill/>
        </p:spPr>
        <p:txBody>
          <a:bodyPr wrap="square" anchor="t">
            <a:spAutoFit/>
          </a:bodyPr>
          <a:lstStyle/>
          <a:p>
            <a:pPr algn="ctr"/>
            <a:r>
              <a:rPr sz="1100" b="0" i="0">
                <a:solidFill>
                  <a:srgbClr val="94A3B8"/>
                </a:solidFill>
                <a:latin typeface="Calibri"/>
              </a:rPr>
              <a:t>Vlad DUMITRU  ·  Pulsefy  ·  UPB FILS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TotalTime>
  <Words>1698</Words>
  <Application>Microsoft Macintosh PowerPoint</Application>
  <PresentationFormat>Widescreen</PresentationFormat>
  <Paragraphs>134</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Vlad Dumitru</cp:lastModifiedBy>
  <cp:revision>2</cp:revision>
  <dcterms:created xsi:type="dcterms:W3CDTF">2013-01-27T09:14:16Z</dcterms:created>
  <dcterms:modified xsi:type="dcterms:W3CDTF">2026-06-27T14:05:57Z</dcterms:modified>
  <cp:category/>
</cp:coreProperties>
</file>