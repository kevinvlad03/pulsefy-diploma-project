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68" r:id="rId19"/>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6"/>
  </p:normalViewPr>
  <p:slideViewPr>
    <p:cSldViewPr snapToGrid="0" snapToObjects="1">
      <p:cViewPr varScale="1">
        <p:scale>
          <a:sx n="115" d="100"/>
          <a:sy n="115" d="100"/>
        </p:scale>
        <p:origin x="66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6728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I'm Vlad Dumitru, presenting my diploma project, Pulsefy — an AI-assisted ad creation platform built under the guidance of Conf. dr. ing. Iuliana Marin at the Faculty of Engineering in Foreign Languages.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Short-form social video is now the dominant advertising surface for small businesses and creators. The current options are narrow: hire an agency at thousands of euros per campaign, stitch together four separate creative tools at the cost of hours per ad, or skip advertising and lose visibility. This is the gap Pulsefy targets.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Pulsefy unifies the four generation steps that normally live in separate apps into a single web application. The user enters a brief, the system produces a finished MP4 in the requested aspect ratio, and the same account covers both free and premium workflows plus a thin social layer with the Jamendo catalog and a creator leaderboard.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core features. The four AI subsystems on the left side of the slide handle generation. The two on the right cover catalog browsing and the social-layer leaderboard. Together they cover the full lifecycle of a short-form ad from brief to publish-ready asset, with no need to leave the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pipeline takes a single product brief, fans out into four parallel generation stages, and converges on FFmpeg assembly. The result is a single MP4 in the user's chosen aspect ratio, ready for upload to the target social platform.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substantive original contribution is Pulsefy AI, a custom LSTM music generator I trained from scratch. Building this myself rather than only plugging in Meta's MusicGen meant I had to implement the full pipeline — MIDI preprocessing and tokenisation, the PyTorch training loop on Apple Metal, and subprocess integration with the Node backend. Inference is fast enough that the free tier feels instant, which was the design goal.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trained Pulsefy AI from scratch on a curated dataset of 1,034 MIDI files — Nottingham folk waltzes and Christmas tunes. Training ran for thirty epochs on my Mac, accelerated by Apple Metal. The end result is a saved model file that the application ships with. Conceptually, the model learned the same way a small language model learns text: by predicting one token at a time, getting feedback on whether the prediction was right, and adjusting its internal weights over thousands of iterations.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tier model is deliberately quality-gated rather than feature-gated. Free users get the Pulsefy AI engine, instant but acoustically simpler, with English voiceover and three scene images. Premium users substitute Meta's MusicGen, slower but higher quality, and unlock multilingual voiceover and the fourth scene. The free tier is functionally complete — it is not a trial.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Sound Studio, the central authoring surface. Four tabs — Music, Voiceover, Video, and Upload — correspond to the four AI subsystems. The session state persists as the user moves between tabs, so they can generate the music and the voiceover separately and combine them in the Video tab without losing their work.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benchmarked the platform on a Mac M2 Pro across three Instagram Reel scenarios. The free-tier pipeline completes a full ad in around three minutes; the premium tier takes about nine minutes, with MusicGen accounting for most of that time. Quality assessment of the generated content is out of scope for this benchmark — the goal here was to verify the latency claim from Chapter 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current limitations: the benchmark is small, MusicGen latency dominates the premium pipeline, the UI is desktop-only, and premium upgrades are simulated. Four corresponding future-work items address each of these: GPU-backed inference for MusicGen, a larger listening study with objective quality metrics, a mobile-responsive layout, and integration with a real payment processor along with multi-language UI support.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I welcome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0" y="3108960"/>
            <a:ext cx="12191695" cy="36576"/>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103120"/>
            <a:ext cx="10332720" cy="1005840"/>
          </a:xfrm>
          <a:prstGeom prst="rect">
            <a:avLst/>
          </a:prstGeom>
          <a:noFill/>
        </p:spPr>
        <p:txBody>
          <a:bodyPr wrap="square" anchor="t">
            <a:spAutoFit/>
          </a:bodyPr>
          <a:lstStyle/>
          <a:p>
            <a:pPr algn="l"/>
            <a:r>
              <a:rPr sz="8000" b="1" i="0" dirty="0" err="1">
                <a:solidFill>
                  <a:srgbClr val="F8FAFC"/>
                </a:solidFill>
                <a:latin typeface="Calibri"/>
              </a:rPr>
              <a:t>Pulsefy</a:t>
            </a:r>
            <a:endParaRPr sz="8000" b="1" i="0" dirty="0">
              <a:solidFill>
                <a:srgbClr val="F8FAFC"/>
              </a:solidFill>
              <a:latin typeface="Calibri"/>
            </a:endParaRPr>
          </a:p>
        </p:txBody>
      </p:sp>
      <p:sp>
        <p:nvSpPr>
          <p:cNvPr id="4" name="TextBox 3"/>
          <p:cNvSpPr txBox="1"/>
          <p:nvPr/>
        </p:nvSpPr>
        <p:spPr>
          <a:xfrm>
            <a:off x="914400" y="3291840"/>
            <a:ext cx="10332720" cy="640080"/>
          </a:xfrm>
          <a:prstGeom prst="rect">
            <a:avLst/>
          </a:prstGeom>
          <a:noFill/>
        </p:spPr>
        <p:txBody>
          <a:bodyPr wrap="square" anchor="t">
            <a:spAutoFit/>
          </a:bodyPr>
          <a:lstStyle/>
          <a:p>
            <a:pPr algn="l"/>
            <a:r>
              <a:rPr sz="2200" b="0" i="0">
                <a:solidFill>
                  <a:srgbClr val="94A3B8"/>
                </a:solidFill>
                <a:latin typeface="Calibri"/>
              </a:rPr>
              <a:t>AI-Assisted Ad Creation Platform for Short-Form Social Video</a:t>
            </a:r>
          </a:p>
        </p:txBody>
      </p:sp>
      <p:sp>
        <p:nvSpPr>
          <p:cNvPr id="5" name="TextBox 4"/>
          <p:cNvSpPr txBox="1"/>
          <p:nvPr/>
        </p:nvSpPr>
        <p:spPr>
          <a:xfrm>
            <a:off x="914400" y="5120640"/>
            <a:ext cx="5029200" cy="323165"/>
          </a:xfrm>
          <a:prstGeom prst="rect">
            <a:avLst/>
          </a:prstGeom>
          <a:noFill/>
        </p:spPr>
        <p:txBody>
          <a:bodyPr wrap="square" anchor="t">
            <a:spAutoFit/>
          </a:bodyPr>
          <a:lstStyle/>
          <a:p>
            <a:pPr algn="l"/>
            <a:r>
              <a:rPr sz="1500" b="1" i="0" dirty="0">
                <a:solidFill>
                  <a:srgbClr val="F8FAFC"/>
                </a:solidFill>
                <a:latin typeface="Calibri"/>
              </a:rPr>
              <a:t>Vlad</a:t>
            </a:r>
            <a:r>
              <a:rPr lang="en-US" sz="1500" b="1" i="0" dirty="0">
                <a:solidFill>
                  <a:srgbClr val="F8FAFC"/>
                </a:solidFill>
                <a:latin typeface="Calibri"/>
              </a:rPr>
              <a:t>-Andrei</a:t>
            </a:r>
            <a:r>
              <a:rPr sz="1500" b="1" i="0" dirty="0">
                <a:solidFill>
                  <a:srgbClr val="F8FAFC"/>
                </a:solidFill>
                <a:latin typeface="Calibri"/>
              </a:rPr>
              <a:t> DUMITRU</a:t>
            </a:r>
          </a:p>
        </p:txBody>
      </p:sp>
      <p:sp>
        <p:nvSpPr>
          <p:cNvPr id="6" name="TextBox 5"/>
          <p:cNvSpPr txBox="1"/>
          <p:nvPr/>
        </p:nvSpPr>
        <p:spPr>
          <a:xfrm>
            <a:off x="914400" y="5486400"/>
            <a:ext cx="5029200" cy="365760"/>
          </a:xfrm>
          <a:prstGeom prst="rect">
            <a:avLst/>
          </a:prstGeom>
          <a:noFill/>
        </p:spPr>
        <p:txBody>
          <a:bodyPr wrap="square" anchor="t">
            <a:spAutoFit/>
          </a:bodyPr>
          <a:lstStyle/>
          <a:p>
            <a:pPr algn="l"/>
            <a:r>
              <a:rPr sz="1200" b="0" i="0">
                <a:solidFill>
                  <a:srgbClr val="94A3B8"/>
                </a:solidFill>
                <a:latin typeface="Calibri"/>
              </a:rPr>
              <a:t>Diploma project, June 2026</a:t>
            </a:r>
          </a:p>
        </p:txBody>
      </p:sp>
      <p:sp>
        <p:nvSpPr>
          <p:cNvPr id="7" name="TextBox 6"/>
          <p:cNvSpPr txBox="1"/>
          <p:nvPr/>
        </p:nvSpPr>
        <p:spPr>
          <a:xfrm>
            <a:off x="7132320" y="5120640"/>
            <a:ext cx="4206240" cy="365760"/>
          </a:xfrm>
          <a:prstGeom prst="rect">
            <a:avLst/>
          </a:prstGeom>
          <a:noFill/>
        </p:spPr>
        <p:txBody>
          <a:bodyPr wrap="square" anchor="t">
            <a:spAutoFit/>
          </a:bodyPr>
          <a:lstStyle/>
          <a:p>
            <a:pPr algn="r"/>
            <a:r>
              <a:rPr sz="1100" b="0" i="0">
                <a:solidFill>
                  <a:srgbClr val="94A3B8"/>
                </a:solidFill>
                <a:latin typeface="Calibri"/>
              </a:rPr>
              <a:t>Coordinator</a:t>
            </a:r>
          </a:p>
        </p:txBody>
      </p:sp>
      <p:sp>
        <p:nvSpPr>
          <p:cNvPr id="8" name="TextBox 7"/>
          <p:cNvSpPr txBox="1"/>
          <p:nvPr/>
        </p:nvSpPr>
        <p:spPr>
          <a:xfrm>
            <a:off x="7132320" y="5394960"/>
            <a:ext cx="4206240" cy="365760"/>
          </a:xfrm>
          <a:prstGeom prst="rect">
            <a:avLst/>
          </a:prstGeom>
          <a:noFill/>
        </p:spPr>
        <p:txBody>
          <a:bodyPr wrap="square" anchor="t">
            <a:spAutoFit/>
          </a:bodyPr>
          <a:lstStyle/>
          <a:p>
            <a:pPr algn="r"/>
            <a:r>
              <a:rPr sz="1400" b="1" i="0">
                <a:solidFill>
                  <a:srgbClr val="F8FAFC"/>
                </a:solidFill>
                <a:latin typeface="Calibri"/>
              </a:rPr>
              <a:t>Conf. dr. ing. Iuliana MARIN</a:t>
            </a:r>
          </a:p>
        </p:txBody>
      </p:sp>
      <p:sp>
        <p:nvSpPr>
          <p:cNvPr id="9" name="TextBox 8"/>
          <p:cNvSpPr txBox="1"/>
          <p:nvPr/>
        </p:nvSpPr>
        <p:spPr>
          <a:xfrm>
            <a:off x="7132320" y="5760720"/>
            <a:ext cx="4206240" cy="246221"/>
          </a:xfrm>
          <a:prstGeom prst="rect">
            <a:avLst/>
          </a:prstGeom>
          <a:noFill/>
        </p:spPr>
        <p:txBody>
          <a:bodyPr wrap="square" anchor="t">
            <a:spAutoFit/>
          </a:bodyPr>
          <a:lstStyle/>
          <a:p>
            <a:pPr algn="r"/>
            <a:r>
              <a:rPr sz="1000" b="0" i="0" dirty="0">
                <a:solidFill>
                  <a:srgbClr val="94A3B8"/>
                </a:solidFill>
                <a:latin typeface="Calibri"/>
              </a:rPr>
              <a:t>Faculty of Engineering in Foreign Languages, U</a:t>
            </a:r>
            <a:r>
              <a:rPr lang="en-US" sz="1000" b="0" i="0" dirty="0">
                <a:solidFill>
                  <a:srgbClr val="94A3B8"/>
                </a:solidFill>
                <a:latin typeface="Calibri"/>
              </a:rPr>
              <a:t>NST</a:t>
            </a:r>
            <a:r>
              <a:rPr sz="1000" b="0" i="0" dirty="0">
                <a:solidFill>
                  <a:srgbClr val="94A3B8"/>
                </a:solidFill>
                <a:latin typeface="Calibri"/>
              </a:rPr>
              <a:t>PB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Context: short-form social video advertising</a:t>
            </a:r>
          </a:p>
        </p:txBody>
      </p:sp>
      <p:sp>
        <p:nvSpPr>
          <p:cNvPr id="4" name="TextBox 3"/>
          <p:cNvSpPr txBox="1"/>
          <p:nvPr/>
        </p:nvSpPr>
        <p:spPr>
          <a:xfrm>
            <a:off x="914400" y="1737360"/>
            <a:ext cx="10332720" cy="1463040"/>
          </a:xfrm>
          <a:prstGeom prst="rect">
            <a:avLst/>
          </a:prstGeom>
          <a:noFill/>
        </p:spPr>
        <p:txBody>
          <a:bodyPr wrap="square" anchor="t">
            <a:spAutoFit/>
          </a:bodyPr>
          <a:lstStyle/>
          <a:p>
            <a:pPr algn="l"/>
            <a:r>
              <a:rPr sz="1500" b="0" i="0">
                <a:solidFill>
                  <a:srgbClr val="F8FAFC"/>
                </a:solidFill>
                <a:latin typeface="Calibri"/>
              </a:rPr>
              <a:t>TikTok, Instagram Reels, and YouTube Shorts have become the dominant surface for product advertising. The format demands frequent posting, vertical video, and audio-first content. The production cost gap between professional agency work and what an individual creator can produce alone has widened.</a:t>
            </a:r>
          </a:p>
        </p:txBody>
      </p:sp>
      <p:sp>
        <p:nvSpPr>
          <p:cNvPr id="5" name="Rounded Rectangle 4"/>
          <p:cNvSpPr/>
          <p:nvPr/>
        </p:nvSpPr>
        <p:spPr>
          <a:xfrm>
            <a:off x="914400" y="3383280"/>
            <a:ext cx="10332720" cy="29260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80160" y="3566160"/>
            <a:ext cx="9601200" cy="457200"/>
          </a:xfrm>
          <a:prstGeom prst="rect">
            <a:avLst/>
          </a:prstGeom>
          <a:noFill/>
        </p:spPr>
        <p:txBody>
          <a:bodyPr wrap="square" anchor="t">
            <a:spAutoFit/>
          </a:bodyPr>
          <a:lstStyle/>
          <a:p>
            <a:pPr algn="l"/>
            <a:r>
              <a:rPr sz="1600" b="1" i="0">
                <a:solidFill>
                  <a:srgbClr val="A78BFA"/>
                </a:solidFill>
                <a:latin typeface="Calibri"/>
              </a:rPr>
              <a:t>Three options currently available to a small advertiser</a:t>
            </a:r>
          </a:p>
        </p:txBody>
      </p:sp>
      <p:sp>
        <p:nvSpPr>
          <p:cNvPr id="7" name="TextBox 6"/>
          <p:cNvSpPr txBox="1"/>
          <p:nvPr/>
        </p:nvSpPr>
        <p:spPr>
          <a:xfrm>
            <a:off x="1280160" y="4206240"/>
            <a:ext cx="3108960" cy="365760"/>
          </a:xfrm>
          <a:prstGeom prst="rect">
            <a:avLst/>
          </a:prstGeom>
          <a:noFill/>
        </p:spPr>
        <p:txBody>
          <a:bodyPr wrap="square" anchor="t">
            <a:spAutoFit/>
          </a:bodyPr>
          <a:lstStyle/>
          <a:p>
            <a:pPr algn="l"/>
            <a:r>
              <a:rPr sz="1500" b="1" i="0">
                <a:solidFill>
                  <a:srgbClr val="F8FAFC"/>
                </a:solidFill>
                <a:latin typeface="Calibri"/>
              </a:rPr>
              <a:t>Hire an agency</a:t>
            </a:r>
          </a:p>
        </p:txBody>
      </p:sp>
      <p:sp>
        <p:nvSpPr>
          <p:cNvPr id="8" name="TextBox 7"/>
          <p:cNvSpPr txBox="1"/>
          <p:nvPr/>
        </p:nvSpPr>
        <p:spPr>
          <a:xfrm>
            <a:off x="1280160" y="4617720"/>
            <a:ext cx="3108960" cy="1463040"/>
          </a:xfrm>
          <a:prstGeom prst="rect">
            <a:avLst/>
          </a:prstGeom>
          <a:noFill/>
        </p:spPr>
        <p:txBody>
          <a:bodyPr wrap="square" anchor="t">
            <a:spAutoFit/>
          </a:bodyPr>
          <a:lstStyle/>
          <a:p>
            <a:pPr algn="l"/>
            <a:r>
              <a:rPr sz="1200" b="0" i="0">
                <a:solidFill>
                  <a:srgbClr val="94A3B8"/>
                </a:solidFill>
                <a:latin typeface="Calibri"/>
              </a:rPr>
              <a:t>Roughly one to ten thousand euros per campaign. Out of reach for recurring use.</a:t>
            </a:r>
          </a:p>
        </p:txBody>
      </p:sp>
      <p:sp>
        <p:nvSpPr>
          <p:cNvPr id="9" name="TextBox 8"/>
          <p:cNvSpPr txBox="1"/>
          <p:nvPr/>
        </p:nvSpPr>
        <p:spPr>
          <a:xfrm>
            <a:off x="4572000" y="4206240"/>
            <a:ext cx="3108960" cy="365760"/>
          </a:xfrm>
          <a:prstGeom prst="rect">
            <a:avLst/>
          </a:prstGeom>
          <a:noFill/>
        </p:spPr>
        <p:txBody>
          <a:bodyPr wrap="square" anchor="t">
            <a:spAutoFit/>
          </a:bodyPr>
          <a:lstStyle/>
          <a:p>
            <a:pPr algn="l"/>
            <a:r>
              <a:rPr sz="1500" b="1" i="0">
                <a:solidFill>
                  <a:srgbClr val="F8FAFC"/>
                </a:solidFill>
                <a:latin typeface="Calibri"/>
              </a:rPr>
              <a:t>Stitch four DIY tools</a:t>
            </a:r>
          </a:p>
        </p:txBody>
      </p:sp>
      <p:sp>
        <p:nvSpPr>
          <p:cNvPr id="10" name="TextBox 9"/>
          <p:cNvSpPr txBox="1"/>
          <p:nvPr/>
        </p:nvSpPr>
        <p:spPr>
          <a:xfrm>
            <a:off x="4572000" y="4617720"/>
            <a:ext cx="3108960" cy="1463040"/>
          </a:xfrm>
          <a:prstGeom prst="rect">
            <a:avLst/>
          </a:prstGeom>
          <a:noFill/>
        </p:spPr>
        <p:txBody>
          <a:bodyPr wrap="square" anchor="t">
            <a:spAutoFit/>
          </a:bodyPr>
          <a:lstStyle/>
          <a:p>
            <a:pPr algn="l"/>
            <a:r>
              <a:rPr sz="1200" b="0" i="0">
                <a:solidFill>
                  <a:srgbClr val="94A3B8"/>
                </a:solidFill>
                <a:latin typeface="Calibri"/>
              </a:rPr>
              <a:t>Canva, Suno, ElevenLabs, CapCut. Four subscriptions, four interfaces, hours of friction per ad.</a:t>
            </a:r>
          </a:p>
        </p:txBody>
      </p:sp>
      <p:sp>
        <p:nvSpPr>
          <p:cNvPr id="11" name="TextBox 10"/>
          <p:cNvSpPr txBox="1"/>
          <p:nvPr/>
        </p:nvSpPr>
        <p:spPr>
          <a:xfrm>
            <a:off x="7863840" y="4206240"/>
            <a:ext cx="3108960" cy="365760"/>
          </a:xfrm>
          <a:prstGeom prst="rect">
            <a:avLst/>
          </a:prstGeom>
          <a:noFill/>
        </p:spPr>
        <p:txBody>
          <a:bodyPr wrap="square" anchor="t">
            <a:spAutoFit/>
          </a:bodyPr>
          <a:lstStyle/>
          <a:p>
            <a:pPr algn="l"/>
            <a:r>
              <a:rPr sz="1500" b="1" i="0">
                <a:solidFill>
                  <a:srgbClr val="F8FAFC"/>
                </a:solidFill>
                <a:latin typeface="Calibri"/>
              </a:rPr>
              <a:t>Skip advertising</a:t>
            </a:r>
          </a:p>
        </p:txBody>
      </p:sp>
      <p:sp>
        <p:nvSpPr>
          <p:cNvPr id="12" name="TextBox 11"/>
          <p:cNvSpPr txBox="1"/>
          <p:nvPr/>
        </p:nvSpPr>
        <p:spPr>
          <a:xfrm>
            <a:off x="7863840" y="4617720"/>
            <a:ext cx="3108960" cy="1463040"/>
          </a:xfrm>
          <a:prstGeom prst="rect">
            <a:avLst/>
          </a:prstGeom>
          <a:noFill/>
        </p:spPr>
        <p:txBody>
          <a:bodyPr wrap="square" anchor="t">
            <a:spAutoFit/>
          </a:bodyPr>
          <a:lstStyle/>
          <a:p>
            <a:pPr algn="l"/>
            <a:r>
              <a:rPr sz="1200" b="0" i="0">
                <a:solidFill>
                  <a:srgbClr val="94A3B8"/>
                </a:solidFill>
                <a:latin typeface="Calibri"/>
              </a:rPr>
              <a:t>Lose reach on platforms whose algorithms reward consistent posting cadence.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What Pulsefy is</a:t>
            </a:r>
          </a:p>
        </p:txBody>
      </p:sp>
      <p:sp>
        <p:nvSpPr>
          <p:cNvPr id="4" name="TextBox 3"/>
          <p:cNvSpPr txBox="1"/>
          <p:nvPr/>
        </p:nvSpPr>
        <p:spPr>
          <a:xfrm>
            <a:off x="914400" y="1828800"/>
            <a:ext cx="10332720" cy="2560320"/>
          </a:xfrm>
          <a:prstGeom prst="rect">
            <a:avLst/>
          </a:prstGeom>
          <a:noFill/>
        </p:spPr>
        <p:txBody>
          <a:bodyPr wrap="square" anchor="t">
            <a:spAutoFit/>
          </a:bodyPr>
          <a:lstStyle/>
          <a:p>
            <a:pPr algn="l"/>
            <a:r>
              <a:rPr sz="1800" b="0" i="0">
                <a:solidFill>
                  <a:srgbClr val="F8FAFC"/>
                </a:solidFill>
                <a:latin typeface="Calibri"/>
              </a:rPr>
              <a:t>Pulsefy is a web application that unifies four AI generation subsystems behind a single user account: scene image generation, background music generation, voiceover synthesis, and video assembly. The user enters a short product brief and receives a finished MP4 ready for upload to TikTok, Instagram Reels, or YouTube Shorts.</a:t>
            </a:r>
          </a:p>
        </p:txBody>
      </p:sp>
      <p:sp>
        <p:nvSpPr>
          <p:cNvPr id="5" name="Rounded Rectangle 4"/>
          <p:cNvSpPr/>
          <p:nvPr/>
        </p:nvSpPr>
        <p:spPr>
          <a:xfrm>
            <a:off x="914400" y="4480560"/>
            <a:ext cx="10332720" cy="17373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80160" y="4663440"/>
            <a:ext cx="9601200" cy="457200"/>
          </a:xfrm>
          <a:prstGeom prst="rect">
            <a:avLst/>
          </a:prstGeom>
          <a:noFill/>
        </p:spPr>
        <p:txBody>
          <a:bodyPr wrap="square" anchor="t">
            <a:spAutoFit/>
          </a:bodyPr>
          <a:lstStyle/>
          <a:p>
            <a:pPr algn="l"/>
            <a:r>
              <a:rPr sz="1400" b="1" i="0">
                <a:solidFill>
                  <a:srgbClr val="A78BFA"/>
                </a:solidFill>
                <a:latin typeface="Calibri"/>
              </a:rPr>
              <a:t>Scope of the platform</a:t>
            </a:r>
          </a:p>
        </p:txBody>
      </p:sp>
      <p:sp>
        <p:nvSpPr>
          <p:cNvPr id="7" name="TextBox 6"/>
          <p:cNvSpPr txBox="1"/>
          <p:nvPr/>
        </p:nvSpPr>
        <p:spPr>
          <a:xfrm>
            <a:off x="1280160" y="5120640"/>
            <a:ext cx="9601200" cy="1005840"/>
          </a:xfrm>
          <a:prstGeom prst="rect">
            <a:avLst/>
          </a:prstGeom>
          <a:noFill/>
        </p:spPr>
        <p:txBody>
          <a:bodyPr wrap="square" anchor="t">
            <a:spAutoFit/>
          </a:bodyPr>
          <a:lstStyle/>
          <a:p>
            <a:pPr algn="l"/>
            <a:r>
              <a:rPr sz="1300" b="0" i="0">
                <a:solidFill>
                  <a:srgbClr val="F8FAFC"/>
                </a:solidFill>
                <a:latin typeface="Calibri"/>
              </a:rPr>
              <a:t>A free tier with functional coverage across all four subsystems, a premium tier that substitutes higher-quality engines for the same workflows, and a social layer (Jamendo catalog browser and creator leaderboard) that connects users to one another and to Creative Commons music sources.</a:t>
            </a:r>
          </a:p>
        </p:txBody>
      </p:sp>
      <p:sp>
        <p:nvSpPr>
          <p:cNvPr id="8" name="TextBox 7"/>
          <p:cNvSpPr txBox="1"/>
          <p:nvPr/>
        </p:nvSpPr>
        <p:spPr>
          <a:xfrm>
            <a:off x="11338560" y="640080"/>
            <a:ext cx="640080" cy="640080"/>
          </a:xfrm>
          <a:prstGeom prst="rect">
            <a:avLst/>
          </a:prstGeom>
          <a:noFill/>
        </p:spPr>
        <p:txBody>
          <a:bodyPr wrap="none" anchor="ctr">
            <a:spAutoFit/>
          </a:bodyPr>
          <a:lstStyle/>
          <a:p>
            <a:pPr algn="ctr"/>
            <a:r>
              <a:rPr sz="2800">
                <a:solidFill>
                  <a:srgbClr val="A78BFA"/>
                </a:solidFill>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Core features</a:t>
            </a:r>
          </a:p>
        </p:txBody>
      </p:sp>
      <p:sp>
        <p:nvSpPr>
          <p:cNvPr id="4" name="Rounded Rectangle 3"/>
          <p:cNvSpPr/>
          <p:nvPr/>
        </p:nvSpPr>
        <p:spPr>
          <a:xfrm>
            <a:off x="914400" y="169164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1828800"/>
            <a:ext cx="4572000" cy="365760"/>
          </a:xfrm>
          <a:prstGeom prst="rect">
            <a:avLst/>
          </a:prstGeom>
          <a:noFill/>
        </p:spPr>
        <p:txBody>
          <a:bodyPr wrap="square" anchor="t">
            <a:spAutoFit/>
          </a:bodyPr>
          <a:lstStyle/>
          <a:p>
            <a:pPr algn="l"/>
            <a:r>
              <a:rPr sz="1300" b="1" i="0">
                <a:solidFill>
                  <a:srgbClr val="A78BFA"/>
                </a:solidFill>
                <a:latin typeface="Calibri"/>
              </a:rPr>
              <a:t>AI scene image generation</a:t>
            </a:r>
          </a:p>
        </p:txBody>
      </p:sp>
      <p:sp>
        <p:nvSpPr>
          <p:cNvPr id="6" name="TextBox 5"/>
          <p:cNvSpPr txBox="1"/>
          <p:nvPr/>
        </p:nvSpPr>
        <p:spPr>
          <a:xfrm>
            <a:off x="1143000" y="2240280"/>
            <a:ext cx="4572000" cy="685800"/>
          </a:xfrm>
          <a:prstGeom prst="rect">
            <a:avLst/>
          </a:prstGeom>
          <a:noFill/>
        </p:spPr>
        <p:txBody>
          <a:bodyPr wrap="square" anchor="t">
            <a:spAutoFit/>
          </a:bodyPr>
          <a:lstStyle/>
          <a:p>
            <a:pPr algn="l"/>
            <a:r>
              <a:rPr sz="1100" b="0" i="0">
                <a:solidFill>
                  <a:srgbClr val="F8FAFC"/>
                </a:solidFill>
                <a:latin typeface="Calibri"/>
              </a:rPr>
              <a:t>Pollinations.ai integration with four named ad shot types and three social aspect ratios (9:16, 1:1, 16:9).</a:t>
            </a:r>
          </a:p>
        </p:txBody>
      </p:sp>
      <p:sp>
        <p:nvSpPr>
          <p:cNvPr id="7" name="Rounded Rectangle 6"/>
          <p:cNvSpPr/>
          <p:nvPr/>
        </p:nvSpPr>
        <p:spPr>
          <a:xfrm>
            <a:off x="6217920" y="169164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46520" y="1828800"/>
            <a:ext cx="4572000" cy="365760"/>
          </a:xfrm>
          <a:prstGeom prst="rect">
            <a:avLst/>
          </a:prstGeom>
          <a:noFill/>
        </p:spPr>
        <p:txBody>
          <a:bodyPr wrap="square" anchor="t">
            <a:spAutoFit/>
          </a:bodyPr>
          <a:lstStyle/>
          <a:p>
            <a:pPr algn="l"/>
            <a:r>
              <a:rPr sz="1300" b="1" i="0">
                <a:solidFill>
                  <a:srgbClr val="A78BFA"/>
                </a:solidFill>
                <a:latin typeface="Calibri"/>
              </a:rPr>
              <a:t>Two music engines</a:t>
            </a:r>
          </a:p>
        </p:txBody>
      </p:sp>
      <p:sp>
        <p:nvSpPr>
          <p:cNvPr id="9" name="TextBox 8"/>
          <p:cNvSpPr txBox="1"/>
          <p:nvPr/>
        </p:nvSpPr>
        <p:spPr>
          <a:xfrm>
            <a:off x="6446520" y="2240280"/>
            <a:ext cx="4572000" cy="685800"/>
          </a:xfrm>
          <a:prstGeom prst="rect">
            <a:avLst/>
          </a:prstGeom>
          <a:noFill/>
        </p:spPr>
        <p:txBody>
          <a:bodyPr wrap="square" anchor="t">
            <a:spAutoFit/>
          </a:bodyPr>
          <a:lstStyle/>
          <a:p>
            <a:pPr algn="l"/>
            <a:r>
              <a:rPr sz="1100" b="0" i="0">
                <a:solidFill>
                  <a:srgbClr val="F8FAFC"/>
                </a:solidFill>
                <a:latin typeface="Calibri"/>
              </a:rPr>
              <a:t>Pulsefy AI custom LSTM for instant free-tier output, MusicGen for higher-quality premium output.</a:t>
            </a:r>
          </a:p>
        </p:txBody>
      </p:sp>
      <p:sp>
        <p:nvSpPr>
          <p:cNvPr id="10" name="Rounded Rectangle 9"/>
          <p:cNvSpPr/>
          <p:nvPr/>
        </p:nvSpPr>
        <p:spPr>
          <a:xfrm>
            <a:off x="914400" y="315468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3000" y="3291840"/>
            <a:ext cx="4572000" cy="365760"/>
          </a:xfrm>
          <a:prstGeom prst="rect">
            <a:avLst/>
          </a:prstGeom>
          <a:noFill/>
        </p:spPr>
        <p:txBody>
          <a:bodyPr wrap="square" anchor="t">
            <a:spAutoFit/>
          </a:bodyPr>
          <a:lstStyle/>
          <a:p>
            <a:pPr algn="l"/>
            <a:r>
              <a:rPr sz="1300" b="1" i="0">
                <a:solidFill>
                  <a:srgbClr val="A78BFA"/>
                </a:solidFill>
                <a:latin typeface="Calibri"/>
              </a:rPr>
              <a:t>Multilingual voiceover</a:t>
            </a:r>
          </a:p>
        </p:txBody>
      </p:sp>
      <p:sp>
        <p:nvSpPr>
          <p:cNvPr id="12" name="TextBox 11"/>
          <p:cNvSpPr txBox="1"/>
          <p:nvPr/>
        </p:nvSpPr>
        <p:spPr>
          <a:xfrm>
            <a:off x="1143000" y="3703320"/>
            <a:ext cx="4572000" cy="685800"/>
          </a:xfrm>
          <a:prstGeom prst="rect">
            <a:avLst/>
          </a:prstGeom>
          <a:noFill/>
        </p:spPr>
        <p:txBody>
          <a:bodyPr wrap="square" anchor="t">
            <a:spAutoFit/>
          </a:bodyPr>
          <a:lstStyle/>
          <a:p>
            <a:pPr algn="l"/>
            <a:r>
              <a:rPr sz="1100" b="0" i="0">
                <a:solidFill>
                  <a:srgbClr val="F8FAFC"/>
                </a:solidFill>
                <a:latin typeface="Calibri"/>
              </a:rPr>
              <a:t>gTTS-based voiceover synthesis. English on the free tier, dozens of languages on premium.</a:t>
            </a:r>
          </a:p>
        </p:txBody>
      </p:sp>
      <p:sp>
        <p:nvSpPr>
          <p:cNvPr id="13" name="Rounded Rectangle 12"/>
          <p:cNvSpPr/>
          <p:nvPr/>
        </p:nvSpPr>
        <p:spPr>
          <a:xfrm>
            <a:off x="6217920" y="315468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3291840"/>
            <a:ext cx="4572000" cy="365760"/>
          </a:xfrm>
          <a:prstGeom prst="rect">
            <a:avLst/>
          </a:prstGeom>
          <a:noFill/>
        </p:spPr>
        <p:txBody>
          <a:bodyPr wrap="square" anchor="t">
            <a:spAutoFit/>
          </a:bodyPr>
          <a:lstStyle/>
          <a:p>
            <a:pPr algn="l"/>
            <a:r>
              <a:rPr sz="1300" b="1" i="0">
                <a:solidFill>
                  <a:srgbClr val="A78BFA"/>
                </a:solidFill>
                <a:latin typeface="Calibri"/>
              </a:rPr>
              <a:t>Video assembly and upload</a:t>
            </a:r>
          </a:p>
        </p:txBody>
      </p:sp>
      <p:sp>
        <p:nvSpPr>
          <p:cNvPr id="15" name="TextBox 14"/>
          <p:cNvSpPr txBox="1"/>
          <p:nvPr/>
        </p:nvSpPr>
        <p:spPr>
          <a:xfrm>
            <a:off x="6446520" y="3703320"/>
            <a:ext cx="4572000" cy="685800"/>
          </a:xfrm>
          <a:prstGeom prst="rect">
            <a:avLst/>
          </a:prstGeom>
          <a:noFill/>
        </p:spPr>
        <p:txBody>
          <a:bodyPr wrap="square" anchor="t">
            <a:spAutoFit/>
          </a:bodyPr>
          <a:lstStyle/>
          <a:p>
            <a:pPr algn="l"/>
            <a:r>
              <a:rPr sz="1100" b="0" i="0">
                <a:solidFill>
                  <a:srgbClr val="F8FAFC"/>
                </a:solidFill>
                <a:latin typeface="Calibri"/>
              </a:rPr>
              <a:t>FFmpeg-based assembly with Ken Burns effect, plus a separate upload path that overlays generated audio onto user video.</a:t>
            </a:r>
          </a:p>
        </p:txBody>
      </p:sp>
      <p:sp>
        <p:nvSpPr>
          <p:cNvPr id="16" name="Rounded Rectangle 15"/>
          <p:cNvSpPr/>
          <p:nvPr/>
        </p:nvSpPr>
        <p:spPr>
          <a:xfrm>
            <a:off x="914400" y="461772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43000" y="4754880"/>
            <a:ext cx="4572000" cy="365760"/>
          </a:xfrm>
          <a:prstGeom prst="rect">
            <a:avLst/>
          </a:prstGeom>
          <a:noFill/>
        </p:spPr>
        <p:txBody>
          <a:bodyPr wrap="square" anchor="t">
            <a:spAutoFit/>
          </a:bodyPr>
          <a:lstStyle/>
          <a:p>
            <a:pPr algn="l"/>
            <a:r>
              <a:rPr sz="1300" b="1" i="0">
                <a:solidFill>
                  <a:srgbClr val="A78BFA"/>
                </a:solidFill>
                <a:latin typeface="Calibri"/>
              </a:rPr>
              <a:t>Licensed music catalog</a:t>
            </a:r>
          </a:p>
        </p:txBody>
      </p:sp>
      <p:sp>
        <p:nvSpPr>
          <p:cNvPr id="18" name="TextBox 17"/>
          <p:cNvSpPr txBox="1"/>
          <p:nvPr/>
        </p:nvSpPr>
        <p:spPr>
          <a:xfrm>
            <a:off x="1143000" y="5166359"/>
            <a:ext cx="4572000" cy="685800"/>
          </a:xfrm>
          <a:prstGeom prst="rect">
            <a:avLst/>
          </a:prstGeom>
          <a:noFill/>
        </p:spPr>
        <p:txBody>
          <a:bodyPr wrap="square" anchor="t">
            <a:spAutoFit/>
          </a:bodyPr>
          <a:lstStyle/>
          <a:p>
            <a:pPr algn="l"/>
            <a:r>
              <a:rPr sz="1100" b="0" i="0">
                <a:solidFill>
                  <a:srgbClr val="F8FAFC"/>
                </a:solidFill>
                <a:latin typeface="Calibri"/>
              </a:rPr>
              <a:t>Jamendo Creative Commons proxy with search, genre filtering, inline preview, and direct attachment.</a:t>
            </a:r>
          </a:p>
        </p:txBody>
      </p:sp>
      <p:sp>
        <p:nvSpPr>
          <p:cNvPr id="19" name="Rounded Rectangle 18"/>
          <p:cNvSpPr/>
          <p:nvPr/>
        </p:nvSpPr>
        <p:spPr>
          <a:xfrm>
            <a:off x="6217920" y="461772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6520" y="4754880"/>
            <a:ext cx="4572000" cy="365760"/>
          </a:xfrm>
          <a:prstGeom prst="rect">
            <a:avLst/>
          </a:prstGeom>
          <a:noFill/>
        </p:spPr>
        <p:txBody>
          <a:bodyPr wrap="square" anchor="t">
            <a:spAutoFit/>
          </a:bodyPr>
          <a:lstStyle/>
          <a:p>
            <a:pPr algn="l"/>
            <a:r>
              <a:rPr sz="1300" b="1" i="0">
                <a:solidFill>
                  <a:srgbClr val="A78BFA"/>
                </a:solidFill>
                <a:latin typeface="Calibri"/>
              </a:rPr>
              <a:t>Creator leaderboard</a:t>
            </a:r>
          </a:p>
        </p:txBody>
      </p:sp>
      <p:sp>
        <p:nvSpPr>
          <p:cNvPr id="21" name="TextBox 20"/>
          <p:cNvSpPr txBox="1"/>
          <p:nvPr/>
        </p:nvSpPr>
        <p:spPr>
          <a:xfrm>
            <a:off x="6446520" y="5166359"/>
            <a:ext cx="4572000" cy="685800"/>
          </a:xfrm>
          <a:prstGeom prst="rect">
            <a:avLst/>
          </a:prstGeom>
          <a:noFill/>
        </p:spPr>
        <p:txBody>
          <a:bodyPr wrap="square" anchor="t">
            <a:spAutoFit/>
          </a:bodyPr>
          <a:lstStyle/>
          <a:p>
            <a:pPr algn="l"/>
            <a:r>
              <a:rPr sz="1100" b="0" i="0">
                <a:solidFill>
                  <a:srgbClr val="F8FAFC"/>
                </a:solidFill>
                <a:latin typeface="Calibri"/>
              </a:rPr>
              <a:t>Public ranking by generation count, surfacing active creators without requiring an explicit follow graph.</a:t>
            </a:r>
          </a:p>
        </p:txBody>
      </p:sp>
      <p:sp>
        <p:nvSpPr>
          <p:cNvPr id="22" name="TextBox 21"/>
          <p:cNvSpPr txBox="1"/>
          <p:nvPr/>
        </p:nvSpPr>
        <p:spPr>
          <a:xfrm>
            <a:off x="11338560" y="640080"/>
            <a:ext cx="640080" cy="640080"/>
          </a:xfrm>
          <a:prstGeom prst="rect">
            <a:avLst/>
          </a:prstGeom>
          <a:noFill/>
        </p:spPr>
        <p:txBody>
          <a:bodyPr wrap="none" anchor="ctr">
            <a:spAutoFit/>
          </a:bodyPr>
          <a:lstStyle/>
          <a:p>
            <a:pPr algn="ctr"/>
            <a:r>
              <a:rPr sz="2800">
                <a:solidFill>
                  <a:srgbClr val="A78BFA"/>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Generation pipeline</a:t>
            </a:r>
          </a:p>
        </p:txBody>
      </p:sp>
      <p:sp>
        <p:nvSpPr>
          <p:cNvPr id="4" name="Rounded Rectangle 3"/>
          <p:cNvSpPr/>
          <p:nvPr/>
        </p:nvSpPr>
        <p:spPr>
          <a:xfrm>
            <a:off x="548640" y="2926080"/>
            <a:ext cx="1828800" cy="137160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Product brief</a:t>
            </a:r>
          </a:p>
          <a:p>
            <a:pPr algn="ctr"/>
            <a:r>
              <a:rPr sz="1000" i="1">
                <a:solidFill>
                  <a:srgbClr val="94A3B8"/>
                </a:solidFill>
              </a:rPr>
              <a:t>name, style, ratio</a:t>
            </a:r>
          </a:p>
        </p:txBody>
      </p:sp>
      <p:sp>
        <p:nvSpPr>
          <p:cNvPr id="5" name="Rounded Rectangle 4"/>
          <p:cNvSpPr/>
          <p:nvPr/>
        </p:nvSpPr>
        <p:spPr>
          <a:xfrm>
            <a:off x="3108960" y="155448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Scene images</a:t>
            </a:r>
          </a:p>
          <a:p>
            <a:pPr algn="ctr"/>
            <a:r>
              <a:rPr sz="1000" i="1">
                <a:solidFill>
                  <a:srgbClr val="94A3B8"/>
                </a:solidFill>
              </a:rPr>
              <a:t>Pollinations.ai</a:t>
            </a:r>
          </a:p>
        </p:txBody>
      </p:sp>
      <p:sp>
        <p:nvSpPr>
          <p:cNvPr id="6" name="Rounded Rectangle 5"/>
          <p:cNvSpPr/>
          <p:nvPr/>
        </p:nvSpPr>
        <p:spPr>
          <a:xfrm>
            <a:off x="3108960" y="274320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Music</a:t>
            </a:r>
          </a:p>
          <a:p>
            <a:pPr algn="ctr"/>
            <a:r>
              <a:rPr sz="1000" i="1">
                <a:solidFill>
                  <a:srgbClr val="94A3B8"/>
                </a:solidFill>
              </a:rPr>
              <a:t>MusicGen / Pulsefy AI</a:t>
            </a:r>
          </a:p>
        </p:txBody>
      </p:sp>
      <p:sp>
        <p:nvSpPr>
          <p:cNvPr id="7" name="Rounded Rectangle 6"/>
          <p:cNvSpPr/>
          <p:nvPr/>
        </p:nvSpPr>
        <p:spPr>
          <a:xfrm>
            <a:off x="3108960" y="393192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Voiceover</a:t>
            </a:r>
          </a:p>
          <a:p>
            <a:pPr algn="ctr"/>
            <a:r>
              <a:rPr sz="1000" i="1">
                <a:solidFill>
                  <a:srgbClr val="94A3B8"/>
                </a:solidFill>
              </a:rPr>
              <a:t>gTTS</a:t>
            </a:r>
          </a:p>
        </p:txBody>
      </p:sp>
      <p:sp>
        <p:nvSpPr>
          <p:cNvPr id="8" name="Rounded Rectangle 7"/>
          <p:cNvSpPr/>
          <p:nvPr/>
        </p:nvSpPr>
        <p:spPr>
          <a:xfrm>
            <a:off x="3108960" y="512064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Assembly</a:t>
            </a:r>
          </a:p>
          <a:p>
            <a:pPr algn="ctr"/>
            <a:r>
              <a:rPr sz="1000" i="1">
                <a:solidFill>
                  <a:srgbClr val="94A3B8"/>
                </a:solidFill>
              </a:rPr>
              <a:t>FFmpeg + Ken Burns</a:t>
            </a:r>
          </a:p>
        </p:txBody>
      </p:sp>
      <p:sp>
        <p:nvSpPr>
          <p:cNvPr id="9" name="Rounded Rectangle 8"/>
          <p:cNvSpPr/>
          <p:nvPr/>
        </p:nvSpPr>
        <p:spPr>
          <a:xfrm>
            <a:off x="7315200" y="2926080"/>
            <a:ext cx="1828800" cy="137160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MP4 ad</a:t>
            </a:r>
          </a:p>
          <a:p>
            <a:pPr algn="ctr"/>
            <a:r>
              <a:rPr sz="1000" i="1">
                <a:solidFill>
                  <a:srgbClr val="94A3B8"/>
                </a:solidFill>
              </a:rPr>
              <a:t>9:16 / 1:1 / 16:9</a:t>
            </a:r>
          </a:p>
        </p:txBody>
      </p:sp>
      <p:sp>
        <p:nvSpPr>
          <p:cNvPr id="10" name="Rounded Rectangle 9"/>
          <p:cNvSpPr/>
          <p:nvPr/>
        </p:nvSpPr>
        <p:spPr>
          <a:xfrm>
            <a:off x="9875520" y="2926080"/>
            <a:ext cx="1828800" cy="1371600"/>
          </a:xfrm>
          <a:prstGeom prst="roundRect">
            <a:avLst/>
          </a:prstGeom>
          <a:solidFill>
            <a:srgbClr val="162F1F"/>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Publish</a:t>
            </a:r>
          </a:p>
          <a:p>
            <a:pPr algn="ctr"/>
            <a:r>
              <a:rPr sz="1000" i="1">
                <a:solidFill>
                  <a:srgbClr val="94A3B8"/>
                </a:solidFill>
              </a:rPr>
              <a:t>TikTok / Reels / Shorts</a:t>
            </a:r>
          </a:p>
        </p:txBody>
      </p:sp>
      <p:sp>
        <p:nvSpPr>
          <p:cNvPr id="11" name="TextBox 10"/>
          <p:cNvSpPr txBox="1"/>
          <p:nvPr/>
        </p:nvSpPr>
        <p:spPr>
          <a:xfrm>
            <a:off x="914400" y="6355080"/>
            <a:ext cx="10332720" cy="411480"/>
          </a:xfrm>
          <a:prstGeom prst="rect">
            <a:avLst/>
          </a:prstGeom>
          <a:noFill/>
        </p:spPr>
        <p:txBody>
          <a:bodyPr wrap="square" anchor="t">
            <a:spAutoFit/>
          </a:bodyPr>
          <a:lstStyle/>
          <a:p>
            <a:pPr algn="ctr"/>
            <a:r>
              <a:rPr sz="1100" b="0" i="1">
                <a:solidFill>
                  <a:srgbClr val="94A3B8"/>
                </a:solidFill>
                <a:latin typeface="Calibri"/>
              </a:rPr>
              <a:t>Single request from the brief, four parallel asset stages, assembly into a single MP4 at the chosen social-platform ratio.</a:t>
            </a:r>
          </a:p>
        </p:txBody>
      </p:sp>
      <p:cxnSp>
        <p:nvCxnSpPr>
          <p:cNvPr id="12" name="Connector 11"/>
          <p:cNvCxnSpPr/>
          <p:nvPr/>
        </p:nvCxnSpPr>
        <p:spPr>
          <a:xfrm flipV="1">
            <a:off x="2377440" y="2057400"/>
            <a:ext cx="685800" cy="155448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377440" y="3246120"/>
            <a:ext cx="685800" cy="36576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77440" y="3611880"/>
            <a:ext cx="685800" cy="82296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377440" y="3611880"/>
            <a:ext cx="685800" cy="201168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26480" y="2057400"/>
            <a:ext cx="1188720" cy="155448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26480" y="3246120"/>
            <a:ext cx="1188720" cy="36576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26480" y="3611880"/>
            <a:ext cx="1188720" cy="82296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126480" y="3611880"/>
            <a:ext cx="1188720" cy="201168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144000" y="3611880"/>
            <a:ext cx="731520" cy="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Original contribution: Pulsefy AI</a:t>
            </a:r>
          </a:p>
        </p:txBody>
      </p:sp>
      <p:sp>
        <p:nvSpPr>
          <p:cNvPr id="4" name="TextBox 3"/>
          <p:cNvSpPr txBox="1"/>
          <p:nvPr/>
        </p:nvSpPr>
        <p:spPr>
          <a:xfrm>
            <a:off x="914400" y="1691640"/>
            <a:ext cx="6400800" cy="457200"/>
          </a:xfrm>
          <a:prstGeom prst="rect">
            <a:avLst/>
          </a:prstGeom>
          <a:noFill/>
        </p:spPr>
        <p:txBody>
          <a:bodyPr wrap="square" anchor="t">
            <a:spAutoFit/>
          </a:bodyPr>
          <a:lstStyle/>
          <a:p>
            <a:pPr algn="l"/>
            <a:r>
              <a:rPr sz="1600" b="0" i="1">
                <a:solidFill>
                  <a:srgbClr val="A78BFA"/>
                </a:solidFill>
                <a:latin typeface="Calibri"/>
              </a:rPr>
              <a:t>A custom LSTM music generator trained from scratch</a:t>
            </a:r>
          </a:p>
        </p:txBody>
      </p:sp>
      <p:sp>
        <p:nvSpPr>
          <p:cNvPr id="5" name="TextBox 4"/>
          <p:cNvSpPr txBox="1"/>
          <p:nvPr/>
        </p:nvSpPr>
        <p:spPr>
          <a:xfrm>
            <a:off x="914400" y="2468880"/>
            <a:ext cx="6400800" cy="3657600"/>
          </a:xfrm>
          <a:prstGeom prst="rect">
            <a:avLst/>
          </a:prstGeom>
          <a:noFill/>
        </p:spPr>
        <p:txBody>
          <a:bodyPr wrap="square" anchor="t">
            <a:spAutoFit/>
          </a:bodyPr>
          <a:lstStyle/>
          <a:p>
            <a:pPr algn="l"/>
            <a:r>
              <a:rPr sz="1400" b="0" i="0">
                <a:solidFill>
                  <a:srgbClr val="F8FAFC"/>
                </a:solidFill>
                <a:latin typeface="Calibri"/>
              </a:rPr>
              <a:t>Pulsefy AI is the original technical contribution of the project. It is a token-level next-event LSTM model that generates background music for the free tier of the platform without depending on any third-party service.</a:t>
            </a:r>
          </a:p>
          <a:p>
            <a:pPr algn="l"/>
            <a:endParaRPr sz="1400" b="0" i="0">
              <a:solidFill>
                <a:srgbClr val="F8FAFC"/>
              </a:solidFill>
              <a:latin typeface="Calibri"/>
            </a:endParaRPr>
          </a:p>
          <a:p>
            <a:pPr algn="l"/>
            <a:r>
              <a:rPr sz="1400" b="0" i="0">
                <a:solidFill>
                  <a:srgbClr val="F8FAFC"/>
                </a:solidFill>
                <a:latin typeface="Calibri"/>
              </a:rPr>
              <a:t>Building this rather than relying solely on Meta's MusicGen required end-to-end implementation of three components: a MIDI preprocessing and tokenisation pipeline, a PyTorch training loop with Apple Metal acceleration, and an inference path integrated with the Node.js backend through a Python subprocess.</a:t>
            </a:r>
          </a:p>
          <a:p>
            <a:pPr algn="l"/>
            <a:endParaRPr sz="1400" b="0" i="0">
              <a:solidFill>
                <a:srgbClr val="F8FAFC"/>
              </a:solidFill>
              <a:latin typeface="Calibri"/>
            </a:endParaRPr>
          </a:p>
          <a:p>
            <a:pPr algn="l"/>
            <a:r>
              <a:rPr sz="1400" b="0" i="1">
                <a:solidFill>
                  <a:srgbClr val="F8FAFC"/>
                </a:solidFill>
                <a:latin typeface="Calibri"/>
              </a:rPr>
              <a:t>Inference completes in single-digit seconds on consumer hardware, which makes the free tier feel instant.</a:t>
            </a:r>
          </a:p>
        </p:txBody>
      </p:sp>
      <p:sp>
        <p:nvSpPr>
          <p:cNvPr id="6" name="Rectangle 5"/>
          <p:cNvSpPr/>
          <p:nvPr/>
        </p:nvSpPr>
        <p:spPr>
          <a:xfrm>
            <a:off x="7680960" y="2286000"/>
            <a:ext cx="4114800" cy="393192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94A3B8"/>
                </a:solidFill>
              </a:rPr>
              <a:t>[Insert: training screenshot from
thesis Figure 43]</a:t>
            </a:r>
          </a:p>
        </p:txBody>
      </p:sp>
      <p:sp>
        <p:nvSpPr>
          <p:cNvPr id="7" name="TextBox 6"/>
          <p:cNvSpPr txBox="1"/>
          <p:nvPr/>
        </p:nvSpPr>
        <p:spPr>
          <a:xfrm>
            <a:off x="11338560" y="640080"/>
            <a:ext cx="640080" cy="640080"/>
          </a:xfrm>
          <a:prstGeom prst="rect">
            <a:avLst/>
          </a:prstGeom>
          <a:noFill/>
        </p:spPr>
        <p:txBody>
          <a:bodyPr wrap="none" anchor="ctr">
            <a:spAutoFit/>
          </a:bodyPr>
          <a:lstStyle/>
          <a:p>
            <a:pPr algn="ctr"/>
            <a:r>
              <a:rPr sz="2800">
                <a:solidFill>
                  <a:srgbClr val="A78BFA"/>
                </a:solidFill>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How Pulsefy AI was trained</a:t>
            </a:r>
          </a:p>
        </p:txBody>
      </p:sp>
      <p:sp>
        <p:nvSpPr>
          <p:cNvPr id="4" name="Rounded Rectangle 3"/>
          <p:cNvSpPr/>
          <p:nvPr/>
        </p:nvSpPr>
        <p:spPr>
          <a:xfrm>
            <a:off x="640080" y="2743200"/>
            <a:ext cx="3383280" cy="1645920"/>
          </a:xfrm>
          <a:prstGeom prst="roundRect">
            <a:avLst/>
          </a:prstGeom>
          <a:solidFill>
            <a:srgbClr val="1E293B"/>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2000" b="1">
                <a:solidFill>
                  <a:srgbClr val="F8FAFC"/>
                </a:solidFill>
              </a:rPr>
              <a:t>1,034 MIDI files</a:t>
            </a:r>
          </a:p>
          <a:p>
            <a:pPr algn="ctr"/>
            <a:r>
              <a:rPr sz="1200" i="1">
                <a:solidFill>
                  <a:srgbClr val="94A3B8"/>
                </a:solidFill>
              </a:rPr>
              <a:t>Nottingham folk + Christmas tunes</a:t>
            </a:r>
          </a:p>
        </p:txBody>
      </p:sp>
      <p:sp>
        <p:nvSpPr>
          <p:cNvPr id="5" name="Rounded Rectangle 4"/>
          <p:cNvSpPr/>
          <p:nvPr/>
        </p:nvSpPr>
        <p:spPr>
          <a:xfrm>
            <a:off x="4389120" y="2743200"/>
            <a:ext cx="3383280" cy="1645920"/>
          </a:xfrm>
          <a:prstGeom prst="roundRect">
            <a:avLst/>
          </a:prstGeom>
          <a:solidFill>
            <a:srgbClr val="1E293B"/>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2000" b="1">
                <a:solidFill>
                  <a:srgbClr val="F8FAFC"/>
                </a:solidFill>
              </a:rPr>
              <a:t>Train for 30 epochs</a:t>
            </a:r>
          </a:p>
          <a:p>
            <a:pPr algn="ctr"/>
            <a:r>
              <a:rPr sz="1200" i="1">
                <a:solidFill>
                  <a:srgbClr val="94A3B8"/>
                </a:solidFill>
              </a:rPr>
              <a:t>Apple Metal acceleration</a:t>
            </a:r>
          </a:p>
        </p:txBody>
      </p:sp>
      <p:sp>
        <p:nvSpPr>
          <p:cNvPr id="6" name="Rounded Rectangle 5"/>
          <p:cNvSpPr/>
          <p:nvPr/>
        </p:nvSpPr>
        <p:spPr>
          <a:xfrm>
            <a:off x="8138160" y="2743200"/>
            <a:ext cx="3383280" cy="1645920"/>
          </a:xfrm>
          <a:prstGeom prst="roundRect">
            <a:avLst/>
          </a:prstGeom>
          <a:solidFill>
            <a:srgbClr val="1E293B"/>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2000" b="1">
                <a:solidFill>
                  <a:srgbClr val="F8FAFC"/>
                </a:solidFill>
              </a:rPr>
              <a:t>Pulsefy AI model</a:t>
            </a:r>
          </a:p>
          <a:p>
            <a:pPr algn="ctr"/>
            <a:r>
              <a:rPr sz="1200" i="1">
                <a:solidFill>
                  <a:srgbClr val="94A3B8"/>
                </a:solidFill>
              </a:rPr>
              <a:t>saved as a .pt checkpoint</a:t>
            </a:r>
          </a:p>
        </p:txBody>
      </p:sp>
      <p:cxnSp>
        <p:nvCxnSpPr>
          <p:cNvPr id="7" name="Connector 6"/>
          <p:cNvCxnSpPr/>
          <p:nvPr/>
        </p:nvCxnSpPr>
        <p:spPr>
          <a:xfrm>
            <a:off x="4023360" y="3566160"/>
            <a:ext cx="365760" cy="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72400" y="3566160"/>
            <a:ext cx="365760" cy="0"/>
          </a:xfrm>
          <a:prstGeom prst="line">
            <a:avLst/>
          </a:prstGeom>
          <a:ln w="19050">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14400" y="5029200"/>
            <a:ext cx="10332720" cy="914400"/>
          </a:xfrm>
          <a:prstGeom prst="rect">
            <a:avLst/>
          </a:prstGeom>
          <a:noFill/>
        </p:spPr>
        <p:txBody>
          <a:bodyPr wrap="square" anchor="t">
            <a:spAutoFit/>
          </a:bodyPr>
          <a:lstStyle/>
          <a:p>
            <a:pPr algn="ctr"/>
            <a:r>
              <a:rPr sz="1400" b="0" i="1">
                <a:solidFill>
                  <a:srgbClr val="F8FAFC"/>
                </a:solidFill>
                <a:latin typeface="Calibri"/>
              </a:rPr>
              <a:t>The model learned to predict the next musical event in a sequence — the same way a language model predicts the next word.</a:t>
            </a:r>
          </a:p>
        </p:txBody>
      </p:sp>
      <p:sp>
        <p:nvSpPr>
          <p:cNvPr id="10" name="TextBox 9"/>
          <p:cNvSpPr txBox="1"/>
          <p:nvPr/>
        </p:nvSpPr>
        <p:spPr>
          <a:xfrm>
            <a:off x="11338560" y="640080"/>
            <a:ext cx="640080" cy="640080"/>
          </a:xfrm>
          <a:prstGeom prst="rect">
            <a:avLst/>
          </a:prstGeom>
          <a:noFill/>
        </p:spPr>
        <p:txBody>
          <a:bodyPr wrap="none" anchor="ctr">
            <a:spAutoFit/>
          </a:bodyPr>
          <a:lstStyle/>
          <a:p>
            <a:pPr algn="ctr"/>
            <a:r>
              <a:rPr sz="2800">
                <a:solidFill>
                  <a:srgbClr val="A78BFA"/>
                </a:solidFil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Tier model: functional free, quality-gated premium</a:t>
            </a:r>
          </a:p>
        </p:txBody>
      </p:sp>
      <p:sp>
        <p:nvSpPr>
          <p:cNvPr id="4" name="TextBox 3"/>
          <p:cNvSpPr txBox="1"/>
          <p:nvPr/>
        </p:nvSpPr>
        <p:spPr>
          <a:xfrm>
            <a:off x="914400" y="1737360"/>
            <a:ext cx="10332720" cy="457200"/>
          </a:xfrm>
          <a:prstGeom prst="rect">
            <a:avLst/>
          </a:prstGeom>
          <a:noFill/>
        </p:spPr>
        <p:txBody>
          <a:bodyPr wrap="square" anchor="t">
            <a:spAutoFit/>
          </a:bodyPr>
          <a:lstStyle/>
          <a:p>
            <a:pPr algn="l"/>
            <a:r>
              <a:rPr sz="1400" b="0" i="1">
                <a:solidFill>
                  <a:srgbClr val="94A3B8"/>
                </a:solidFill>
                <a:latin typeface="Calibri"/>
              </a:rPr>
              <a:t>The premium tier does not unlock new feature categories; it substitutes higher-quality engines for the same workflows.</a:t>
            </a:r>
          </a:p>
        </p:txBody>
      </p:sp>
      <p:sp>
        <p:nvSpPr>
          <p:cNvPr id="5" name="Rounded Rectangle 4"/>
          <p:cNvSpPr/>
          <p:nvPr/>
        </p:nvSpPr>
        <p:spPr>
          <a:xfrm>
            <a:off x="548640" y="2651760"/>
            <a:ext cx="5029200" cy="3474720"/>
          </a:xfrm>
          <a:prstGeom prst="roundRect">
            <a:avLst/>
          </a:prstGeom>
          <a:solidFill>
            <a:srgbClr val="1E293B"/>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2834640"/>
            <a:ext cx="4572000" cy="457200"/>
          </a:xfrm>
          <a:prstGeom prst="rect">
            <a:avLst/>
          </a:prstGeom>
          <a:noFill/>
        </p:spPr>
        <p:txBody>
          <a:bodyPr wrap="square" anchor="t">
            <a:spAutoFit/>
          </a:bodyPr>
          <a:lstStyle/>
          <a:p>
            <a:pPr algn="l"/>
            <a:r>
              <a:rPr sz="2000" b="1" i="0">
                <a:solidFill>
                  <a:srgbClr val="4ADE80"/>
                </a:solidFill>
                <a:latin typeface="Calibri"/>
              </a:rPr>
              <a:t>Free  ·  Pulsefy AI</a:t>
            </a:r>
          </a:p>
        </p:txBody>
      </p:sp>
      <p:sp>
        <p:nvSpPr>
          <p:cNvPr id="7" name="TextBox 6"/>
          <p:cNvSpPr txBox="1"/>
          <p:nvPr/>
        </p:nvSpPr>
        <p:spPr>
          <a:xfrm>
            <a:off x="822959" y="3474720"/>
            <a:ext cx="4572000" cy="548640"/>
          </a:xfrm>
          <a:prstGeom prst="rect">
            <a:avLst/>
          </a:prstGeom>
          <a:noFill/>
        </p:spPr>
        <p:txBody>
          <a:bodyPr wrap="square" anchor="t">
            <a:spAutoFit/>
          </a:bodyPr>
          <a:lstStyle/>
          <a:p>
            <a:pPr algn="l"/>
            <a:r>
              <a:rPr sz="1300" b="0" i="0">
                <a:solidFill>
                  <a:srgbClr val="F8FAFC"/>
                </a:solidFill>
                <a:latin typeface="Calibri"/>
              </a:rPr>
              <a:t>Custom LSTM (908k parameters)</a:t>
            </a:r>
          </a:p>
        </p:txBody>
      </p:sp>
      <p:sp>
        <p:nvSpPr>
          <p:cNvPr id="8" name="TextBox 7"/>
          <p:cNvSpPr txBox="1"/>
          <p:nvPr/>
        </p:nvSpPr>
        <p:spPr>
          <a:xfrm>
            <a:off x="822959" y="4114800"/>
            <a:ext cx="4572000" cy="548640"/>
          </a:xfrm>
          <a:prstGeom prst="rect">
            <a:avLst/>
          </a:prstGeom>
          <a:noFill/>
        </p:spPr>
        <p:txBody>
          <a:bodyPr wrap="square" anchor="t">
            <a:spAutoFit/>
          </a:bodyPr>
          <a:lstStyle/>
          <a:p>
            <a:pPr algn="l"/>
            <a:r>
              <a:rPr sz="1300" b="0" i="0">
                <a:solidFill>
                  <a:srgbClr val="F8FAFC"/>
                </a:solidFill>
                <a:latin typeface="Calibri"/>
              </a:rPr>
              <a:t>Music generation in 3–7 seconds</a:t>
            </a:r>
          </a:p>
        </p:txBody>
      </p:sp>
      <p:sp>
        <p:nvSpPr>
          <p:cNvPr id="9" name="TextBox 8"/>
          <p:cNvSpPr txBox="1"/>
          <p:nvPr/>
        </p:nvSpPr>
        <p:spPr>
          <a:xfrm>
            <a:off x="822959" y="4754880"/>
            <a:ext cx="4572000" cy="548640"/>
          </a:xfrm>
          <a:prstGeom prst="rect">
            <a:avLst/>
          </a:prstGeom>
          <a:noFill/>
        </p:spPr>
        <p:txBody>
          <a:bodyPr wrap="square" anchor="t">
            <a:spAutoFit/>
          </a:bodyPr>
          <a:lstStyle/>
          <a:p>
            <a:pPr algn="l"/>
            <a:r>
              <a:rPr sz="1300" b="0" i="0">
                <a:solidFill>
                  <a:srgbClr val="F8FAFC"/>
                </a:solidFill>
                <a:latin typeface="Calibri"/>
              </a:rPr>
              <a:t>English voiceover via gTTS</a:t>
            </a:r>
          </a:p>
        </p:txBody>
      </p:sp>
      <p:sp>
        <p:nvSpPr>
          <p:cNvPr id="10" name="TextBox 9"/>
          <p:cNvSpPr txBox="1"/>
          <p:nvPr/>
        </p:nvSpPr>
        <p:spPr>
          <a:xfrm>
            <a:off x="822959" y="5394960"/>
            <a:ext cx="4572000" cy="292388"/>
          </a:xfrm>
          <a:prstGeom prst="rect">
            <a:avLst/>
          </a:prstGeom>
          <a:noFill/>
        </p:spPr>
        <p:txBody>
          <a:bodyPr wrap="square" anchor="t">
            <a:spAutoFit/>
          </a:bodyPr>
          <a:lstStyle/>
          <a:p>
            <a:pPr algn="l"/>
            <a:r>
              <a:rPr lang="en-US" sz="1300" b="0" i="0" dirty="0">
                <a:solidFill>
                  <a:srgbClr val="F8FAFC"/>
                </a:solidFill>
                <a:latin typeface="Calibri"/>
              </a:rPr>
              <a:t>Two</a:t>
            </a:r>
            <a:r>
              <a:rPr sz="1300" b="0" i="0" dirty="0">
                <a:solidFill>
                  <a:srgbClr val="F8FAFC"/>
                </a:solidFill>
                <a:latin typeface="Calibri"/>
              </a:rPr>
              <a:t> scene images per ad</a:t>
            </a:r>
          </a:p>
        </p:txBody>
      </p:sp>
      <p:sp>
        <p:nvSpPr>
          <p:cNvPr id="11" name="Rounded Rectangle 10"/>
          <p:cNvSpPr/>
          <p:nvPr/>
        </p:nvSpPr>
        <p:spPr>
          <a:xfrm>
            <a:off x="6583680" y="2651760"/>
            <a:ext cx="5029200" cy="3474720"/>
          </a:xfrm>
          <a:prstGeom prst="roundRect">
            <a:avLst/>
          </a:prstGeom>
          <a:solidFill>
            <a:srgbClr val="1E293B"/>
          </a:solidFill>
          <a:ln w="2540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0" y="2834640"/>
            <a:ext cx="4572000" cy="457200"/>
          </a:xfrm>
          <a:prstGeom prst="rect">
            <a:avLst/>
          </a:prstGeom>
          <a:noFill/>
        </p:spPr>
        <p:txBody>
          <a:bodyPr wrap="square" anchor="t">
            <a:spAutoFit/>
          </a:bodyPr>
          <a:lstStyle/>
          <a:p>
            <a:pPr algn="l"/>
            <a:r>
              <a:rPr sz="2000" b="1" i="0">
                <a:solidFill>
                  <a:srgbClr val="FB923C"/>
                </a:solidFill>
                <a:latin typeface="Calibri"/>
              </a:rPr>
              <a:t>Premium  ·  MusicGen</a:t>
            </a:r>
          </a:p>
        </p:txBody>
      </p:sp>
      <p:sp>
        <p:nvSpPr>
          <p:cNvPr id="13" name="TextBox 12"/>
          <p:cNvSpPr txBox="1"/>
          <p:nvPr/>
        </p:nvSpPr>
        <p:spPr>
          <a:xfrm>
            <a:off x="6858000" y="3474720"/>
            <a:ext cx="4572000" cy="548640"/>
          </a:xfrm>
          <a:prstGeom prst="rect">
            <a:avLst/>
          </a:prstGeom>
          <a:noFill/>
        </p:spPr>
        <p:txBody>
          <a:bodyPr wrap="square" anchor="t">
            <a:spAutoFit/>
          </a:bodyPr>
          <a:lstStyle/>
          <a:p>
            <a:pPr algn="l"/>
            <a:r>
              <a:rPr sz="1300" b="0" i="0">
                <a:solidFill>
                  <a:srgbClr val="F8FAFC"/>
                </a:solidFill>
                <a:latin typeface="Calibri"/>
              </a:rPr>
              <a:t>Meta audiocraft (balanced quality)</a:t>
            </a:r>
          </a:p>
        </p:txBody>
      </p:sp>
      <p:sp>
        <p:nvSpPr>
          <p:cNvPr id="14" name="TextBox 13"/>
          <p:cNvSpPr txBox="1"/>
          <p:nvPr/>
        </p:nvSpPr>
        <p:spPr>
          <a:xfrm>
            <a:off x="6858000" y="4114800"/>
            <a:ext cx="4572000" cy="548640"/>
          </a:xfrm>
          <a:prstGeom prst="rect">
            <a:avLst/>
          </a:prstGeom>
          <a:noFill/>
        </p:spPr>
        <p:txBody>
          <a:bodyPr wrap="square" anchor="t">
            <a:spAutoFit/>
          </a:bodyPr>
          <a:lstStyle/>
          <a:p>
            <a:pPr algn="l"/>
            <a:r>
              <a:rPr sz="1300" b="0" i="0">
                <a:solidFill>
                  <a:srgbClr val="F8FAFC"/>
                </a:solidFill>
                <a:latin typeface="Calibri"/>
              </a:rPr>
              <a:t>Music generation in 5–7 minutes</a:t>
            </a:r>
          </a:p>
        </p:txBody>
      </p:sp>
      <p:sp>
        <p:nvSpPr>
          <p:cNvPr id="15" name="TextBox 14"/>
          <p:cNvSpPr txBox="1"/>
          <p:nvPr/>
        </p:nvSpPr>
        <p:spPr>
          <a:xfrm>
            <a:off x="6858000" y="4754880"/>
            <a:ext cx="4572000" cy="548640"/>
          </a:xfrm>
          <a:prstGeom prst="rect">
            <a:avLst/>
          </a:prstGeom>
          <a:noFill/>
        </p:spPr>
        <p:txBody>
          <a:bodyPr wrap="square" anchor="t">
            <a:spAutoFit/>
          </a:bodyPr>
          <a:lstStyle/>
          <a:p>
            <a:pPr algn="l"/>
            <a:r>
              <a:rPr sz="1300" b="0" i="0">
                <a:solidFill>
                  <a:srgbClr val="F8FAFC"/>
                </a:solidFill>
                <a:latin typeface="Calibri"/>
              </a:rPr>
              <a:t>Voiceover in dozens of languages</a:t>
            </a:r>
          </a:p>
        </p:txBody>
      </p:sp>
      <p:sp>
        <p:nvSpPr>
          <p:cNvPr id="16" name="TextBox 15"/>
          <p:cNvSpPr txBox="1"/>
          <p:nvPr/>
        </p:nvSpPr>
        <p:spPr>
          <a:xfrm>
            <a:off x="6858000" y="5394960"/>
            <a:ext cx="4572000" cy="548640"/>
          </a:xfrm>
          <a:prstGeom prst="rect">
            <a:avLst/>
          </a:prstGeom>
          <a:noFill/>
        </p:spPr>
        <p:txBody>
          <a:bodyPr wrap="square" anchor="t">
            <a:spAutoFit/>
          </a:bodyPr>
          <a:lstStyle/>
          <a:p>
            <a:pPr algn="l"/>
            <a:r>
              <a:rPr sz="1300" b="0" i="0">
                <a:solidFill>
                  <a:srgbClr val="F8FAFC"/>
                </a:solidFill>
                <a:latin typeface="Calibri"/>
              </a:rPr>
              <a:t>Up to four scene images per 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The Sound Studio</a:t>
            </a:r>
          </a:p>
        </p:txBody>
      </p:sp>
      <p:sp>
        <p:nvSpPr>
          <p:cNvPr id="4" name="TextBox 3"/>
          <p:cNvSpPr txBox="1"/>
          <p:nvPr/>
        </p:nvSpPr>
        <p:spPr>
          <a:xfrm>
            <a:off x="914400" y="1691640"/>
            <a:ext cx="10332720" cy="822960"/>
          </a:xfrm>
          <a:prstGeom prst="rect">
            <a:avLst/>
          </a:prstGeom>
          <a:noFill/>
        </p:spPr>
        <p:txBody>
          <a:bodyPr wrap="square" anchor="t">
            <a:spAutoFit/>
          </a:bodyPr>
          <a:lstStyle/>
          <a:p>
            <a:pPr algn="l"/>
            <a:r>
              <a:rPr sz="1300" b="0" i="1">
                <a:solidFill>
                  <a:srgbClr val="94A3B8"/>
                </a:solidFill>
                <a:latin typeface="Calibri"/>
              </a:rPr>
              <a:t>Four tabs correspond to the four AI subsystems. The user moves between them at their own pace and the underlying session state persists across navigations.</a:t>
            </a:r>
          </a:p>
        </p:txBody>
      </p:sp>
      <p:sp>
        <p:nvSpPr>
          <p:cNvPr id="5" name="Rectangle 4"/>
          <p:cNvSpPr/>
          <p:nvPr/>
        </p:nvSpPr>
        <p:spPr>
          <a:xfrm>
            <a:off x="914400" y="2697480"/>
            <a:ext cx="10332720" cy="365760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94A3B8"/>
                </a:solidFill>
              </a:rPr>
              <a:t>[Insert: Sound Studio screenshot — Music tab with the
Pulsefy AI vs MusicGen selector visible]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Performance benchmark</a:t>
            </a:r>
          </a:p>
        </p:txBody>
      </p:sp>
      <p:sp>
        <p:nvSpPr>
          <p:cNvPr id="4" name="TextBox 3"/>
          <p:cNvSpPr txBox="1"/>
          <p:nvPr/>
        </p:nvSpPr>
        <p:spPr>
          <a:xfrm>
            <a:off x="914400" y="1691640"/>
            <a:ext cx="10332720" cy="457200"/>
          </a:xfrm>
          <a:prstGeom prst="rect">
            <a:avLst/>
          </a:prstGeom>
          <a:noFill/>
        </p:spPr>
        <p:txBody>
          <a:bodyPr wrap="square" anchor="t">
            <a:spAutoFit/>
          </a:bodyPr>
          <a:lstStyle/>
          <a:p>
            <a:pPr algn="l"/>
            <a:r>
              <a:rPr sz="1400" b="0" i="1">
                <a:solidFill>
                  <a:srgbClr val="94A3B8"/>
                </a:solidFill>
                <a:latin typeface="Calibri"/>
              </a:rPr>
              <a:t>Three Instagram Reel scenarios, measured on Mac M2 Pro.</a:t>
            </a:r>
          </a:p>
        </p:txBody>
      </p:sp>
      <p:sp>
        <p:nvSpPr>
          <p:cNvPr id="5" name="Rounded Rectangle 4"/>
          <p:cNvSpPr/>
          <p:nvPr/>
        </p:nvSpPr>
        <p:spPr>
          <a:xfrm>
            <a:off x="914400" y="260604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651760"/>
            <a:ext cx="4114800" cy="685800"/>
          </a:xfrm>
          <a:prstGeom prst="rect">
            <a:avLst/>
          </a:prstGeom>
          <a:noFill/>
        </p:spPr>
        <p:txBody>
          <a:bodyPr wrap="square" anchor="ctr">
            <a:spAutoFit/>
          </a:bodyPr>
          <a:lstStyle/>
          <a:p>
            <a:pPr algn="l"/>
            <a:r>
              <a:rPr sz="1500" b="0" i="0">
                <a:solidFill>
                  <a:srgbClr val="F8FAFC"/>
                </a:solidFill>
                <a:latin typeface="Calibri"/>
              </a:rPr>
              <a:t>Manual workflow (Canva + Suno + ElevenLabs + CapCut)</a:t>
            </a:r>
          </a:p>
        </p:txBody>
      </p:sp>
      <p:sp>
        <p:nvSpPr>
          <p:cNvPr id="7" name="TextBox 6"/>
          <p:cNvSpPr txBox="1"/>
          <p:nvPr/>
        </p:nvSpPr>
        <p:spPr>
          <a:xfrm>
            <a:off x="5303520" y="2651760"/>
            <a:ext cx="3200400" cy="685800"/>
          </a:xfrm>
          <a:prstGeom prst="rect">
            <a:avLst/>
          </a:prstGeom>
          <a:noFill/>
        </p:spPr>
        <p:txBody>
          <a:bodyPr wrap="square" anchor="ctr">
            <a:spAutoFit/>
          </a:bodyPr>
          <a:lstStyle/>
          <a:p>
            <a:pPr algn="ctr"/>
            <a:r>
              <a:rPr sz="2200" b="1" i="0">
                <a:solidFill>
                  <a:srgbClr val="94A3B8"/>
                </a:solidFill>
                <a:latin typeface="Calibri"/>
              </a:rPr>
              <a:t>~8 hours</a:t>
            </a:r>
          </a:p>
        </p:txBody>
      </p:sp>
      <p:sp>
        <p:nvSpPr>
          <p:cNvPr id="8" name="TextBox 7"/>
          <p:cNvSpPr txBox="1"/>
          <p:nvPr/>
        </p:nvSpPr>
        <p:spPr>
          <a:xfrm>
            <a:off x="8686800" y="2651760"/>
            <a:ext cx="2468880" cy="685800"/>
          </a:xfrm>
          <a:prstGeom prst="rect">
            <a:avLst/>
          </a:prstGeom>
          <a:noFill/>
        </p:spPr>
        <p:txBody>
          <a:bodyPr wrap="square" anchor="ctr">
            <a:spAutoFit/>
          </a:bodyPr>
          <a:lstStyle/>
          <a:p>
            <a:pPr algn="r"/>
            <a:r>
              <a:rPr sz="1100" b="0" i="1">
                <a:solidFill>
                  <a:srgbClr val="94A3B8"/>
                </a:solidFill>
                <a:latin typeface="Calibri"/>
              </a:rPr>
              <a:t>baseline</a:t>
            </a:r>
          </a:p>
        </p:txBody>
      </p:sp>
      <p:sp>
        <p:nvSpPr>
          <p:cNvPr id="9" name="Rounded Rectangle 8"/>
          <p:cNvSpPr/>
          <p:nvPr/>
        </p:nvSpPr>
        <p:spPr>
          <a:xfrm>
            <a:off x="914400" y="361188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3657600"/>
            <a:ext cx="4114800" cy="685800"/>
          </a:xfrm>
          <a:prstGeom prst="rect">
            <a:avLst/>
          </a:prstGeom>
          <a:noFill/>
        </p:spPr>
        <p:txBody>
          <a:bodyPr wrap="square" anchor="ctr">
            <a:spAutoFit/>
          </a:bodyPr>
          <a:lstStyle/>
          <a:p>
            <a:pPr algn="l"/>
            <a:r>
              <a:rPr sz="1500" b="0" i="0">
                <a:solidFill>
                  <a:srgbClr val="F8FAFC"/>
                </a:solidFill>
                <a:latin typeface="Calibri"/>
              </a:rPr>
              <a:t>Pulsefy free tier (Pulsefy AI music)</a:t>
            </a:r>
          </a:p>
        </p:txBody>
      </p:sp>
      <p:sp>
        <p:nvSpPr>
          <p:cNvPr id="11" name="TextBox 10"/>
          <p:cNvSpPr txBox="1"/>
          <p:nvPr/>
        </p:nvSpPr>
        <p:spPr>
          <a:xfrm>
            <a:off x="5303520" y="3657600"/>
            <a:ext cx="3200400" cy="685800"/>
          </a:xfrm>
          <a:prstGeom prst="rect">
            <a:avLst/>
          </a:prstGeom>
          <a:noFill/>
        </p:spPr>
        <p:txBody>
          <a:bodyPr wrap="square" anchor="ctr">
            <a:spAutoFit/>
          </a:bodyPr>
          <a:lstStyle/>
          <a:p>
            <a:pPr algn="ctr"/>
            <a:r>
              <a:rPr sz="2200" b="1" i="0">
                <a:solidFill>
                  <a:srgbClr val="4ADE80"/>
                </a:solidFill>
                <a:latin typeface="Calibri"/>
              </a:rPr>
              <a:t>~3 min 11 s</a:t>
            </a:r>
          </a:p>
        </p:txBody>
      </p:sp>
      <p:sp>
        <p:nvSpPr>
          <p:cNvPr id="12" name="TextBox 11"/>
          <p:cNvSpPr txBox="1"/>
          <p:nvPr/>
        </p:nvSpPr>
        <p:spPr>
          <a:xfrm>
            <a:off x="8686800" y="3657600"/>
            <a:ext cx="2468880" cy="685800"/>
          </a:xfrm>
          <a:prstGeom prst="rect">
            <a:avLst/>
          </a:prstGeom>
          <a:noFill/>
        </p:spPr>
        <p:txBody>
          <a:bodyPr wrap="square" anchor="ctr">
            <a:spAutoFit/>
          </a:bodyPr>
          <a:lstStyle/>
          <a:p>
            <a:pPr algn="r"/>
            <a:r>
              <a:rPr sz="1100" b="0" i="1">
                <a:solidFill>
                  <a:srgbClr val="94A3B8"/>
                </a:solidFill>
                <a:latin typeface="Calibri"/>
              </a:rPr>
              <a:t>instant feedback loop</a:t>
            </a:r>
          </a:p>
        </p:txBody>
      </p:sp>
      <p:sp>
        <p:nvSpPr>
          <p:cNvPr id="13" name="Rounded Rectangle 12"/>
          <p:cNvSpPr/>
          <p:nvPr/>
        </p:nvSpPr>
        <p:spPr>
          <a:xfrm>
            <a:off x="914400" y="461772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8720" y="4663440"/>
            <a:ext cx="4114800" cy="685800"/>
          </a:xfrm>
          <a:prstGeom prst="rect">
            <a:avLst/>
          </a:prstGeom>
          <a:noFill/>
        </p:spPr>
        <p:txBody>
          <a:bodyPr wrap="square" anchor="ctr">
            <a:spAutoFit/>
          </a:bodyPr>
          <a:lstStyle/>
          <a:p>
            <a:pPr algn="l"/>
            <a:r>
              <a:rPr sz="1500" b="0" i="0">
                <a:solidFill>
                  <a:srgbClr val="F8FAFC"/>
                </a:solidFill>
                <a:latin typeface="Calibri"/>
              </a:rPr>
              <a:t>Pulsefy premium tier (MusicGen music)</a:t>
            </a:r>
          </a:p>
        </p:txBody>
      </p:sp>
      <p:sp>
        <p:nvSpPr>
          <p:cNvPr id="15" name="TextBox 14"/>
          <p:cNvSpPr txBox="1"/>
          <p:nvPr/>
        </p:nvSpPr>
        <p:spPr>
          <a:xfrm>
            <a:off x="5303520" y="4663440"/>
            <a:ext cx="3200400" cy="685800"/>
          </a:xfrm>
          <a:prstGeom prst="rect">
            <a:avLst/>
          </a:prstGeom>
          <a:noFill/>
        </p:spPr>
        <p:txBody>
          <a:bodyPr wrap="square" anchor="ctr">
            <a:spAutoFit/>
          </a:bodyPr>
          <a:lstStyle/>
          <a:p>
            <a:pPr algn="ctr"/>
            <a:r>
              <a:rPr sz="2200" b="1" i="0">
                <a:solidFill>
                  <a:srgbClr val="FB923C"/>
                </a:solidFill>
                <a:latin typeface="Calibri"/>
              </a:rPr>
              <a:t>~9 min 12 s</a:t>
            </a:r>
          </a:p>
        </p:txBody>
      </p:sp>
      <p:sp>
        <p:nvSpPr>
          <p:cNvPr id="16" name="TextBox 15"/>
          <p:cNvSpPr txBox="1"/>
          <p:nvPr/>
        </p:nvSpPr>
        <p:spPr>
          <a:xfrm>
            <a:off x="8686800" y="4663440"/>
            <a:ext cx="2468880" cy="685800"/>
          </a:xfrm>
          <a:prstGeom prst="rect">
            <a:avLst/>
          </a:prstGeom>
          <a:noFill/>
        </p:spPr>
        <p:txBody>
          <a:bodyPr wrap="square" anchor="ctr">
            <a:spAutoFit/>
          </a:bodyPr>
          <a:lstStyle/>
          <a:p>
            <a:pPr algn="r"/>
            <a:r>
              <a:rPr sz="1100" b="0" i="1">
                <a:solidFill>
                  <a:srgbClr val="94A3B8"/>
                </a:solidFill>
                <a:latin typeface="Calibri"/>
              </a:rPr>
              <a:t>MusicGen dominates the time</a:t>
            </a:r>
          </a:p>
        </p:txBody>
      </p:sp>
      <p:sp>
        <p:nvSpPr>
          <p:cNvPr id="17" name="TextBox 16"/>
          <p:cNvSpPr txBox="1"/>
          <p:nvPr/>
        </p:nvSpPr>
        <p:spPr>
          <a:xfrm>
            <a:off x="914400" y="5760720"/>
            <a:ext cx="10332720" cy="548640"/>
          </a:xfrm>
          <a:prstGeom prst="rect">
            <a:avLst/>
          </a:prstGeom>
          <a:noFill/>
        </p:spPr>
        <p:txBody>
          <a:bodyPr wrap="square" anchor="t">
            <a:spAutoFit/>
          </a:bodyPr>
          <a:lstStyle/>
          <a:p>
            <a:pPr algn="l"/>
            <a:r>
              <a:rPr sz="1100" b="1">
                <a:solidFill>
                  <a:srgbClr val="94A3B8"/>
                </a:solidFill>
              </a:rPr>
              <a:t>How the 8-hour baseline was calculated:</a:t>
            </a:r>
          </a:p>
          <a:p>
            <a:r>
              <a:rPr sz="1100">
                <a:solidFill>
                  <a:srgbClr val="94A3B8"/>
                </a:solidFill>
              </a:rPr>
              <a:t>2 h product visuals in Canva + 2 h music in Suno or stock licensing + 1 h voiceover in ElevenLabs + 3 h editing and assembly in CapCut (breakdown from Chapter 1.2 of the thesis).</a:t>
            </a:r>
          </a:p>
          <a:p>
            <a:r>
              <a:rPr sz="1000" i="1">
                <a:solidFill>
                  <a:srgbClr val="94A3B8"/>
                </a:solidFill>
              </a:rPr>
              <a:t>Quality assessment of generated content was out of scope; identified as future work.</a:t>
            </a:r>
          </a:p>
        </p:txBody>
      </p:sp>
      <p:sp>
        <p:nvSpPr>
          <p:cNvPr id="18" name="TextBox 17"/>
          <p:cNvSpPr txBox="1"/>
          <p:nvPr/>
        </p:nvSpPr>
        <p:spPr>
          <a:xfrm>
            <a:off x="11338560" y="640080"/>
            <a:ext cx="640080" cy="640080"/>
          </a:xfrm>
          <a:prstGeom prst="rect">
            <a:avLst/>
          </a:prstGeom>
          <a:noFill/>
        </p:spPr>
        <p:txBody>
          <a:bodyPr wrap="none" anchor="ctr">
            <a:spAutoFit/>
          </a:bodyPr>
          <a:lstStyle/>
          <a:p>
            <a:pPr algn="ctr"/>
            <a:r>
              <a:rPr sz="2800">
                <a:solidFill>
                  <a:srgbClr val="A78BFA"/>
                </a:solidFill>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Limitations and future work</a:t>
            </a:r>
          </a:p>
        </p:txBody>
      </p:sp>
      <p:sp>
        <p:nvSpPr>
          <p:cNvPr id="4" name="TextBox 3"/>
          <p:cNvSpPr txBox="1"/>
          <p:nvPr/>
        </p:nvSpPr>
        <p:spPr>
          <a:xfrm>
            <a:off x="914400" y="1691640"/>
            <a:ext cx="5029200" cy="457200"/>
          </a:xfrm>
          <a:prstGeom prst="rect">
            <a:avLst/>
          </a:prstGeom>
          <a:noFill/>
        </p:spPr>
        <p:txBody>
          <a:bodyPr wrap="square" anchor="t">
            <a:spAutoFit/>
          </a:bodyPr>
          <a:lstStyle/>
          <a:p>
            <a:pPr algn="l"/>
            <a:r>
              <a:rPr sz="1600" b="1" i="0">
                <a:solidFill>
                  <a:srgbClr val="FB923C"/>
                </a:solidFill>
                <a:latin typeface="Calibri"/>
              </a:rPr>
              <a:t>Current limitations</a:t>
            </a:r>
          </a:p>
        </p:txBody>
      </p:sp>
      <p:sp>
        <p:nvSpPr>
          <p:cNvPr id="5" name="TextBox 4"/>
          <p:cNvSpPr txBox="1"/>
          <p:nvPr/>
        </p:nvSpPr>
        <p:spPr>
          <a:xfrm>
            <a:off x="914400" y="2286000"/>
            <a:ext cx="5029200" cy="320040"/>
          </a:xfrm>
          <a:prstGeom prst="rect">
            <a:avLst/>
          </a:prstGeom>
          <a:noFill/>
        </p:spPr>
        <p:txBody>
          <a:bodyPr wrap="square" anchor="t">
            <a:spAutoFit/>
          </a:bodyPr>
          <a:lstStyle/>
          <a:p>
            <a:pPr algn="l"/>
            <a:r>
              <a:rPr sz="1200" b="1" i="0">
                <a:solidFill>
                  <a:srgbClr val="F8FAFC"/>
                </a:solidFill>
                <a:latin typeface="Calibri"/>
              </a:rPr>
              <a:t>Benchmark scope</a:t>
            </a:r>
          </a:p>
        </p:txBody>
      </p:sp>
      <p:sp>
        <p:nvSpPr>
          <p:cNvPr id="6" name="TextBox 5"/>
          <p:cNvSpPr txBox="1"/>
          <p:nvPr/>
        </p:nvSpPr>
        <p:spPr>
          <a:xfrm>
            <a:off x="914400" y="2606040"/>
            <a:ext cx="5029200" cy="640080"/>
          </a:xfrm>
          <a:prstGeom prst="rect">
            <a:avLst/>
          </a:prstGeom>
          <a:noFill/>
        </p:spPr>
        <p:txBody>
          <a:bodyPr wrap="square" anchor="t">
            <a:spAutoFit/>
          </a:bodyPr>
          <a:lstStyle/>
          <a:p>
            <a:pPr algn="l"/>
            <a:r>
              <a:rPr sz="1100" b="0" i="0">
                <a:solidFill>
                  <a:srgbClr val="94A3B8"/>
                </a:solidFill>
                <a:latin typeface="Calibri"/>
              </a:rPr>
              <a:t>N=3, single hardware, latency-only (no quality assessment).</a:t>
            </a:r>
          </a:p>
        </p:txBody>
      </p:sp>
      <p:sp>
        <p:nvSpPr>
          <p:cNvPr id="7" name="TextBox 6"/>
          <p:cNvSpPr txBox="1"/>
          <p:nvPr/>
        </p:nvSpPr>
        <p:spPr>
          <a:xfrm>
            <a:off x="914400" y="3429000"/>
            <a:ext cx="5029200" cy="320040"/>
          </a:xfrm>
          <a:prstGeom prst="rect">
            <a:avLst/>
          </a:prstGeom>
          <a:noFill/>
        </p:spPr>
        <p:txBody>
          <a:bodyPr wrap="square" anchor="t">
            <a:spAutoFit/>
          </a:bodyPr>
          <a:lstStyle/>
          <a:p>
            <a:pPr algn="l"/>
            <a:r>
              <a:rPr sz="1200" b="1" i="0">
                <a:solidFill>
                  <a:srgbClr val="F8FAFC"/>
                </a:solidFill>
                <a:latin typeface="Calibri"/>
              </a:rPr>
              <a:t>MusicGen latency</a:t>
            </a:r>
          </a:p>
        </p:txBody>
      </p:sp>
      <p:sp>
        <p:nvSpPr>
          <p:cNvPr id="8" name="TextBox 7"/>
          <p:cNvSpPr txBox="1"/>
          <p:nvPr/>
        </p:nvSpPr>
        <p:spPr>
          <a:xfrm>
            <a:off x="914400" y="3749039"/>
            <a:ext cx="5029200" cy="640080"/>
          </a:xfrm>
          <a:prstGeom prst="rect">
            <a:avLst/>
          </a:prstGeom>
          <a:noFill/>
        </p:spPr>
        <p:txBody>
          <a:bodyPr wrap="square" anchor="t">
            <a:spAutoFit/>
          </a:bodyPr>
          <a:lstStyle/>
          <a:p>
            <a:pPr algn="l"/>
            <a:r>
              <a:rPr sz="1100" b="0" i="0">
                <a:solidFill>
                  <a:srgbClr val="94A3B8"/>
                </a:solidFill>
                <a:latin typeface="Calibri"/>
              </a:rPr>
              <a:t>5–7 minutes per request on CPU is the slowest stage of the pipeline.</a:t>
            </a:r>
          </a:p>
        </p:txBody>
      </p:sp>
      <p:sp>
        <p:nvSpPr>
          <p:cNvPr id="9" name="TextBox 8"/>
          <p:cNvSpPr txBox="1"/>
          <p:nvPr/>
        </p:nvSpPr>
        <p:spPr>
          <a:xfrm>
            <a:off x="914400" y="4572000"/>
            <a:ext cx="5029200" cy="320040"/>
          </a:xfrm>
          <a:prstGeom prst="rect">
            <a:avLst/>
          </a:prstGeom>
          <a:noFill/>
        </p:spPr>
        <p:txBody>
          <a:bodyPr wrap="square" anchor="t">
            <a:spAutoFit/>
          </a:bodyPr>
          <a:lstStyle/>
          <a:p>
            <a:pPr algn="l"/>
            <a:r>
              <a:rPr sz="1200" b="1" i="0">
                <a:solidFill>
                  <a:srgbClr val="F8FAFC"/>
                </a:solidFill>
                <a:latin typeface="Calibri"/>
              </a:rPr>
              <a:t>Desktop-only UI</a:t>
            </a:r>
          </a:p>
        </p:txBody>
      </p:sp>
      <p:sp>
        <p:nvSpPr>
          <p:cNvPr id="10" name="TextBox 9"/>
          <p:cNvSpPr txBox="1"/>
          <p:nvPr/>
        </p:nvSpPr>
        <p:spPr>
          <a:xfrm>
            <a:off x="914400" y="4892040"/>
            <a:ext cx="5029200" cy="640080"/>
          </a:xfrm>
          <a:prstGeom prst="rect">
            <a:avLst/>
          </a:prstGeom>
          <a:noFill/>
        </p:spPr>
        <p:txBody>
          <a:bodyPr wrap="square" anchor="t">
            <a:spAutoFit/>
          </a:bodyPr>
          <a:lstStyle/>
          <a:p>
            <a:pPr algn="l"/>
            <a:r>
              <a:rPr sz="1100" b="0" i="0">
                <a:solidFill>
                  <a:srgbClr val="94A3B8"/>
                </a:solidFill>
                <a:latin typeface="Calibri"/>
              </a:rPr>
              <a:t>The four-tab Sound Studio expects a desktop-class viewport.</a:t>
            </a:r>
          </a:p>
        </p:txBody>
      </p:sp>
      <p:sp>
        <p:nvSpPr>
          <p:cNvPr id="11" name="TextBox 10"/>
          <p:cNvSpPr txBox="1"/>
          <p:nvPr/>
        </p:nvSpPr>
        <p:spPr>
          <a:xfrm>
            <a:off x="914400" y="5715000"/>
            <a:ext cx="5029200" cy="320040"/>
          </a:xfrm>
          <a:prstGeom prst="rect">
            <a:avLst/>
          </a:prstGeom>
          <a:noFill/>
        </p:spPr>
        <p:txBody>
          <a:bodyPr wrap="square" anchor="t">
            <a:spAutoFit/>
          </a:bodyPr>
          <a:lstStyle/>
          <a:p>
            <a:pPr algn="l"/>
            <a:r>
              <a:rPr sz="1200" b="1" i="0">
                <a:solidFill>
                  <a:srgbClr val="F8FAFC"/>
                </a:solidFill>
                <a:latin typeface="Calibri"/>
              </a:rPr>
              <a:t>Simulated subscriptions</a:t>
            </a:r>
          </a:p>
        </p:txBody>
      </p:sp>
      <p:sp>
        <p:nvSpPr>
          <p:cNvPr id="12" name="TextBox 11"/>
          <p:cNvSpPr txBox="1"/>
          <p:nvPr/>
        </p:nvSpPr>
        <p:spPr>
          <a:xfrm>
            <a:off x="914400" y="6035040"/>
            <a:ext cx="5029200" cy="640080"/>
          </a:xfrm>
          <a:prstGeom prst="rect">
            <a:avLst/>
          </a:prstGeom>
          <a:noFill/>
        </p:spPr>
        <p:txBody>
          <a:bodyPr wrap="square" anchor="t">
            <a:spAutoFit/>
          </a:bodyPr>
          <a:lstStyle/>
          <a:p>
            <a:pPr algn="l"/>
            <a:r>
              <a:rPr sz="1100" b="0" i="0">
                <a:solidFill>
                  <a:srgbClr val="94A3B8"/>
                </a:solidFill>
                <a:latin typeface="Calibri"/>
              </a:rPr>
              <a:t>Premium upgrade is self-service without a real payment processor.</a:t>
            </a:r>
          </a:p>
        </p:txBody>
      </p:sp>
      <p:sp>
        <p:nvSpPr>
          <p:cNvPr id="13" name="TextBox 12"/>
          <p:cNvSpPr txBox="1"/>
          <p:nvPr/>
        </p:nvSpPr>
        <p:spPr>
          <a:xfrm>
            <a:off x="6400800" y="1691640"/>
            <a:ext cx="5029200" cy="457200"/>
          </a:xfrm>
          <a:prstGeom prst="rect">
            <a:avLst/>
          </a:prstGeom>
          <a:noFill/>
        </p:spPr>
        <p:txBody>
          <a:bodyPr wrap="square" anchor="t">
            <a:spAutoFit/>
          </a:bodyPr>
          <a:lstStyle/>
          <a:p>
            <a:pPr algn="l"/>
            <a:r>
              <a:rPr sz="1600" b="1" i="0">
                <a:solidFill>
                  <a:srgbClr val="A78BFA"/>
                </a:solidFill>
                <a:latin typeface="Calibri"/>
              </a:rPr>
              <a:t>Future work</a:t>
            </a:r>
          </a:p>
        </p:txBody>
      </p:sp>
      <p:sp>
        <p:nvSpPr>
          <p:cNvPr id="14" name="TextBox 13"/>
          <p:cNvSpPr txBox="1"/>
          <p:nvPr/>
        </p:nvSpPr>
        <p:spPr>
          <a:xfrm>
            <a:off x="6400800" y="2286000"/>
            <a:ext cx="5029200" cy="320040"/>
          </a:xfrm>
          <a:prstGeom prst="rect">
            <a:avLst/>
          </a:prstGeom>
          <a:noFill/>
        </p:spPr>
        <p:txBody>
          <a:bodyPr wrap="square" anchor="t">
            <a:spAutoFit/>
          </a:bodyPr>
          <a:lstStyle/>
          <a:p>
            <a:pPr algn="l"/>
            <a:r>
              <a:rPr sz="1200" b="1" i="0">
                <a:solidFill>
                  <a:srgbClr val="F8FAFC"/>
                </a:solidFill>
                <a:latin typeface="Calibri"/>
              </a:rPr>
              <a:t>GPU-backed inference</a:t>
            </a:r>
          </a:p>
        </p:txBody>
      </p:sp>
      <p:sp>
        <p:nvSpPr>
          <p:cNvPr id="15" name="TextBox 14"/>
          <p:cNvSpPr txBox="1"/>
          <p:nvPr/>
        </p:nvSpPr>
        <p:spPr>
          <a:xfrm>
            <a:off x="6400800" y="2606040"/>
            <a:ext cx="5029200" cy="640080"/>
          </a:xfrm>
          <a:prstGeom prst="rect">
            <a:avLst/>
          </a:prstGeom>
          <a:noFill/>
        </p:spPr>
        <p:txBody>
          <a:bodyPr wrap="square" anchor="t">
            <a:spAutoFit/>
          </a:bodyPr>
          <a:lstStyle/>
          <a:p>
            <a:pPr algn="l"/>
            <a:r>
              <a:rPr sz="1100" b="0" i="0">
                <a:solidFill>
                  <a:srgbClr val="94A3B8"/>
                </a:solidFill>
                <a:latin typeface="Calibri"/>
              </a:rPr>
              <a:t>Worker pool on GPU hardware to reduce MusicGen latency to seconds.</a:t>
            </a:r>
          </a:p>
        </p:txBody>
      </p:sp>
      <p:sp>
        <p:nvSpPr>
          <p:cNvPr id="16" name="TextBox 15"/>
          <p:cNvSpPr txBox="1"/>
          <p:nvPr/>
        </p:nvSpPr>
        <p:spPr>
          <a:xfrm>
            <a:off x="6400800" y="3429000"/>
            <a:ext cx="5029200" cy="320040"/>
          </a:xfrm>
          <a:prstGeom prst="rect">
            <a:avLst/>
          </a:prstGeom>
          <a:noFill/>
        </p:spPr>
        <p:txBody>
          <a:bodyPr wrap="square" anchor="t">
            <a:spAutoFit/>
          </a:bodyPr>
          <a:lstStyle/>
          <a:p>
            <a:pPr algn="l"/>
            <a:r>
              <a:rPr sz="1200" b="1" i="0">
                <a:solidFill>
                  <a:srgbClr val="F8FAFC"/>
                </a:solidFill>
                <a:latin typeface="Calibri"/>
              </a:rPr>
              <a:t>Larger validation study</a:t>
            </a:r>
          </a:p>
        </p:txBody>
      </p:sp>
      <p:sp>
        <p:nvSpPr>
          <p:cNvPr id="17" name="TextBox 16"/>
          <p:cNvSpPr txBox="1"/>
          <p:nvPr/>
        </p:nvSpPr>
        <p:spPr>
          <a:xfrm>
            <a:off x="6400800" y="3749039"/>
            <a:ext cx="5029200" cy="640080"/>
          </a:xfrm>
          <a:prstGeom prst="rect">
            <a:avLst/>
          </a:prstGeom>
          <a:noFill/>
        </p:spPr>
        <p:txBody>
          <a:bodyPr wrap="square" anchor="t">
            <a:spAutoFit/>
          </a:bodyPr>
          <a:lstStyle/>
          <a:p>
            <a:pPr algn="l"/>
            <a:r>
              <a:rPr sz="1100" b="0" i="0">
                <a:solidFill>
                  <a:srgbClr val="94A3B8"/>
                </a:solidFill>
                <a:latin typeface="Calibri"/>
              </a:rPr>
              <a:t>N≥20 listeners, MUSHRA scoring, Fréchet Audio Distance for quality.</a:t>
            </a:r>
          </a:p>
        </p:txBody>
      </p:sp>
      <p:sp>
        <p:nvSpPr>
          <p:cNvPr id="18" name="TextBox 17"/>
          <p:cNvSpPr txBox="1"/>
          <p:nvPr/>
        </p:nvSpPr>
        <p:spPr>
          <a:xfrm>
            <a:off x="6400800" y="4572000"/>
            <a:ext cx="5029200" cy="320040"/>
          </a:xfrm>
          <a:prstGeom prst="rect">
            <a:avLst/>
          </a:prstGeom>
          <a:noFill/>
        </p:spPr>
        <p:txBody>
          <a:bodyPr wrap="square" anchor="t">
            <a:spAutoFit/>
          </a:bodyPr>
          <a:lstStyle/>
          <a:p>
            <a:pPr algn="l"/>
            <a:r>
              <a:rPr sz="1200" b="1" i="0">
                <a:solidFill>
                  <a:srgbClr val="F8FAFC"/>
                </a:solidFill>
                <a:latin typeface="Calibri"/>
              </a:rPr>
              <a:t>Mobile-responsive UI</a:t>
            </a:r>
          </a:p>
        </p:txBody>
      </p:sp>
      <p:sp>
        <p:nvSpPr>
          <p:cNvPr id="19" name="TextBox 18"/>
          <p:cNvSpPr txBox="1"/>
          <p:nvPr/>
        </p:nvSpPr>
        <p:spPr>
          <a:xfrm>
            <a:off x="6400800" y="4892040"/>
            <a:ext cx="5029200" cy="640080"/>
          </a:xfrm>
          <a:prstGeom prst="rect">
            <a:avLst/>
          </a:prstGeom>
          <a:noFill/>
        </p:spPr>
        <p:txBody>
          <a:bodyPr wrap="square" anchor="t">
            <a:spAutoFit/>
          </a:bodyPr>
          <a:lstStyle/>
          <a:p>
            <a:pPr algn="l"/>
            <a:r>
              <a:rPr sz="1100" b="0" i="0">
                <a:solidFill>
                  <a:srgbClr val="94A3B8"/>
                </a:solidFill>
                <a:latin typeface="Calibri"/>
              </a:rPr>
              <a:t>Meet creators on the device they shoot their content on.</a:t>
            </a:r>
          </a:p>
        </p:txBody>
      </p:sp>
      <p:sp>
        <p:nvSpPr>
          <p:cNvPr id="20" name="TextBox 19"/>
          <p:cNvSpPr txBox="1"/>
          <p:nvPr/>
        </p:nvSpPr>
        <p:spPr>
          <a:xfrm>
            <a:off x="6400800" y="5715000"/>
            <a:ext cx="5029200" cy="320040"/>
          </a:xfrm>
          <a:prstGeom prst="rect">
            <a:avLst/>
          </a:prstGeom>
          <a:noFill/>
        </p:spPr>
        <p:txBody>
          <a:bodyPr wrap="square" anchor="t">
            <a:spAutoFit/>
          </a:bodyPr>
          <a:lstStyle/>
          <a:p>
            <a:pPr algn="l"/>
            <a:r>
              <a:rPr sz="1200" b="1" i="0">
                <a:solidFill>
                  <a:srgbClr val="F8FAFC"/>
                </a:solidFill>
                <a:latin typeface="Calibri"/>
              </a:rPr>
              <a:t>Production payment + multi-language UI</a:t>
            </a:r>
          </a:p>
        </p:txBody>
      </p:sp>
      <p:sp>
        <p:nvSpPr>
          <p:cNvPr id="21" name="TextBox 20"/>
          <p:cNvSpPr txBox="1"/>
          <p:nvPr/>
        </p:nvSpPr>
        <p:spPr>
          <a:xfrm>
            <a:off x="6400800" y="6035040"/>
            <a:ext cx="5029200" cy="640080"/>
          </a:xfrm>
          <a:prstGeom prst="rect">
            <a:avLst/>
          </a:prstGeom>
          <a:noFill/>
        </p:spPr>
        <p:txBody>
          <a:bodyPr wrap="square" anchor="t">
            <a:spAutoFit/>
          </a:bodyPr>
          <a:lstStyle/>
          <a:p>
            <a:pPr algn="l"/>
            <a:r>
              <a:rPr sz="1100" b="0" i="0">
                <a:solidFill>
                  <a:srgbClr val="94A3B8"/>
                </a:solidFill>
                <a:latin typeface="Calibri"/>
              </a:rPr>
              <a:t>Stripe integration; Romanian and other regional language support.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0" y="3108960"/>
            <a:ext cx="12191695" cy="36576"/>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468880"/>
            <a:ext cx="11247120" cy="914400"/>
          </a:xfrm>
          <a:prstGeom prst="rect">
            <a:avLst/>
          </a:prstGeom>
          <a:noFill/>
        </p:spPr>
        <p:txBody>
          <a:bodyPr wrap="square" anchor="t">
            <a:spAutoFit/>
          </a:bodyPr>
          <a:lstStyle/>
          <a:p>
            <a:pPr algn="ctr"/>
            <a:r>
              <a:rPr sz="4400" b="1" i="0">
                <a:solidFill>
                  <a:srgbClr val="F8FAFC"/>
                </a:solidFill>
                <a:latin typeface="Calibri"/>
              </a:rPr>
              <a:t>Thank you for your attention.</a:t>
            </a:r>
          </a:p>
        </p:txBody>
      </p:sp>
      <p:sp>
        <p:nvSpPr>
          <p:cNvPr id="4" name="TextBox 3"/>
          <p:cNvSpPr txBox="1"/>
          <p:nvPr/>
        </p:nvSpPr>
        <p:spPr>
          <a:xfrm>
            <a:off x="457200" y="3657600"/>
            <a:ext cx="11247120" cy="548640"/>
          </a:xfrm>
          <a:prstGeom prst="rect">
            <a:avLst/>
          </a:prstGeom>
          <a:noFill/>
        </p:spPr>
        <p:txBody>
          <a:bodyPr wrap="square" anchor="t">
            <a:spAutoFit/>
          </a:bodyPr>
          <a:lstStyle/>
          <a:p>
            <a:pPr algn="ctr"/>
            <a:r>
              <a:rPr sz="2200" b="0" i="1">
                <a:solidFill>
                  <a:srgbClr val="A78BFA"/>
                </a:solidFill>
                <a:latin typeface="Calibri"/>
              </a:rPr>
              <a:t>I welcome your questions.</a:t>
            </a:r>
          </a:p>
        </p:txBody>
      </p:sp>
      <p:sp>
        <p:nvSpPr>
          <p:cNvPr id="5" name="TextBox 4"/>
          <p:cNvSpPr txBox="1"/>
          <p:nvPr/>
        </p:nvSpPr>
        <p:spPr>
          <a:xfrm>
            <a:off x="457200" y="6126480"/>
            <a:ext cx="11247120" cy="365760"/>
          </a:xfrm>
          <a:prstGeom prst="rect">
            <a:avLst/>
          </a:prstGeom>
          <a:noFill/>
        </p:spPr>
        <p:txBody>
          <a:bodyPr wrap="square" anchor="t">
            <a:spAutoFit/>
          </a:bodyPr>
          <a:lstStyle/>
          <a:p>
            <a:pPr algn="ctr"/>
            <a:r>
              <a:rPr sz="1100" b="0" i="0">
                <a:solidFill>
                  <a:srgbClr val="94A3B8"/>
                </a:solidFill>
                <a:latin typeface="Calibri"/>
              </a:rPr>
              <a:t>Vlad DUMITRU  ·  Pulsefy  ·  UPB FILS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Who Pulsefy is for</a:t>
            </a:r>
          </a:p>
        </p:txBody>
      </p:sp>
      <p:sp>
        <p:nvSpPr>
          <p:cNvPr id="4" name="TextBox 3"/>
          <p:cNvSpPr txBox="1"/>
          <p:nvPr/>
        </p:nvSpPr>
        <p:spPr>
          <a:xfrm>
            <a:off x="914400" y="1691640"/>
            <a:ext cx="10332720" cy="457200"/>
          </a:xfrm>
          <a:prstGeom prst="rect">
            <a:avLst/>
          </a:prstGeom>
          <a:noFill/>
        </p:spPr>
        <p:txBody>
          <a:bodyPr wrap="square" anchor="t">
            <a:spAutoFit/>
          </a:bodyPr>
          <a:lstStyle/>
          <a:p>
            <a:pPr algn="l"/>
            <a:r>
              <a:rPr sz="1400" b="0" i="1">
                <a:solidFill>
                  <a:srgbClr val="94A3B8"/>
                </a:solidFill>
                <a:latin typeface="Calibri"/>
              </a:rPr>
              <a:t>Three archetypes who produce ads themselves rather than commissioning them.</a:t>
            </a:r>
          </a:p>
        </p:txBody>
      </p:sp>
      <p:sp>
        <p:nvSpPr>
          <p:cNvPr id="5" name="Rounded Rectangle 4"/>
          <p:cNvSpPr/>
          <p:nvPr/>
        </p:nvSpPr>
        <p:spPr>
          <a:xfrm>
            <a:off x="640080" y="2560320"/>
            <a:ext cx="3520440" cy="3383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43200"/>
            <a:ext cx="3108960" cy="457200"/>
          </a:xfrm>
          <a:prstGeom prst="rect">
            <a:avLst/>
          </a:prstGeom>
          <a:noFill/>
        </p:spPr>
        <p:txBody>
          <a:bodyPr wrap="square" anchor="t">
            <a:spAutoFit/>
          </a:bodyPr>
          <a:lstStyle/>
          <a:p>
            <a:pPr algn="l"/>
            <a:r>
              <a:rPr sz="1600" b="1" i="0">
                <a:solidFill>
                  <a:srgbClr val="A78BFA"/>
                </a:solidFill>
                <a:latin typeface="Calibri"/>
              </a:rPr>
              <a:t>Solo creator</a:t>
            </a:r>
          </a:p>
        </p:txBody>
      </p:sp>
      <p:sp>
        <p:nvSpPr>
          <p:cNvPr id="7" name="TextBox 6"/>
          <p:cNvSpPr txBox="1"/>
          <p:nvPr/>
        </p:nvSpPr>
        <p:spPr>
          <a:xfrm>
            <a:off x="914400" y="3383280"/>
            <a:ext cx="3108960" cy="2468880"/>
          </a:xfrm>
          <a:prstGeom prst="rect">
            <a:avLst/>
          </a:prstGeom>
          <a:noFill/>
        </p:spPr>
        <p:txBody>
          <a:bodyPr wrap="square" anchor="t">
            <a:spAutoFit/>
          </a:bodyPr>
          <a:lstStyle/>
          <a:p>
            <a:pPr algn="l"/>
            <a:r>
              <a:rPr sz="1200" b="0" i="0">
                <a:solidFill>
                  <a:srgbClr val="F8FAFC"/>
                </a:solidFill>
                <a:latin typeface="Calibri"/>
              </a:rPr>
              <a:t>A side-hustle TikTok or Reels creator producing promotional content for personal projects or sponsorships. Needs frequent output on a near-zero budget.</a:t>
            </a:r>
          </a:p>
        </p:txBody>
      </p:sp>
      <p:sp>
        <p:nvSpPr>
          <p:cNvPr id="8" name="Rounded Rectangle 7"/>
          <p:cNvSpPr/>
          <p:nvPr/>
        </p:nvSpPr>
        <p:spPr>
          <a:xfrm>
            <a:off x="4343400" y="2560320"/>
            <a:ext cx="3520440" cy="3383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2743200"/>
            <a:ext cx="3108960" cy="457200"/>
          </a:xfrm>
          <a:prstGeom prst="rect">
            <a:avLst/>
          </a:prstGeom>
          <a:noFill/>
        </p:spPr>
        <p:txBody>
          <a:bodyPr wrap="square" anchor="t">
            <a:spAutoFit/>
          </a:bodyPr>
          <a:lstStyle/>
          <a:p>
            <a:pPr algn="l"/>
            <a:r>
              <a:rPr sz="1600" b="1" i="0">
                <a:solidFill>
                  <a:srgbClr val="A78BFA"/>
                </a:solidFill>
                <a:latin typeface="Calibri"/>
              </a:rPr>
              <a:t>Small business owner</a:t>
            </a:r>
          </a:p>
        </p:txBody>
      </p:sp>
      <p:sp>
        <p:nvSpPr>
          <p:cNvPr id="10" name="TextBox 9"/>
          <p:cNvSpPr txBox="1"/>
          <p:nvPr/>
        </p:nvSpPr>
        <p:spPr>
          <a:xfrm>
            <a:off x="4617720" y="3383280"/>
            <a:ext cx="3108960" cy="2468880"/>
          </a:xfrm>
          <a:prstGeom prst="rect">
            <a:avLst/>
          </a:prstGeom>
          <a:noFill/>
        </p:spPr>
        <p:txBody>
          <a:bodyPr wrap="square" anchor="t">
            <a:spAutoFit/>
          </a:bodyPr>
          <a:lstStyle/>
          <a:p>
            <a:pPr algn="l"/>
            <a:r>
              <a:rPr sz="1200" b="0" i="0">
                <a:solidFill>
                  <a:srgbClr val="F8FAFC"/>
                </a:solidFill>
                <a:latin typeface="Calibri"/>
              </a:rPr>
              <a:t>A retail, food, or services owner who advertises on Reels and TikTok but cannot afford an agency or hire a full-time designer.</a:t>
            </a:r>
          </a:p>
        </p:txBody>
      </p:sp>
      <p:sp>
        <p:nvSpPr>
          <p:cNvPr id="11" name="Rounded Rectangle 10"/>
          <p:cNvSpPr/>
          <p:nvPr/>
        </p:nvSpPr>
        <p:spPr>
          <a:xfrm>
            <a:off x="8046720" y="2560320"/>
            <a:ext cx="3520440" cy="3383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743200"/>
            <a:ext cx="3108960" cy="457200"/>
          </a:xfrm>
          <a:prstGeom prst="rect">
            <a:avLst/>
          </a:prstGeom>
          <a:noFill/>
        </p:spPr>
        <p:txBody>
          <a:bodyPr wrap="square" anchor="t">
            <a:spAutoFit/>
          </a:bodyPr>
          <a:lstStyle/>
          <a:p>
            <a:pPr algn="l"/>
            <a:r>
              <a:rPr sz="1600" b="1" i="0">
                <a:solidFill>
                  <a:srgbClr val="A78BFA"/>
                </a:solidFill>
                <a:latin typeface="Calibri"/>
              </a:rPr>
              <a:t>In-house marketer</a:t>
            </a:r>
          </a:p>
        </p:txBody>
      </p:sp>
      <p:sp>
        <p:nvSpPr>
          <p:cNvPr id="13" name="TextBox 12"/>
          <p:cNvSpPr txBox="1"/>
          <p:nvPr/>
        </p:nvSpPr>
        <p:spPr>
          <a:xfrm>
            <a:off x="8321040" y="3383280"/>
            <a:ext cx="3108960" cy="2468880"/>
          </a:xfrm>
          <a:prstGeom prst="rect">
            <a:avLst/>
          </a:prstGeom>
          <a:noFill/>
        </p:spPr>
        <p:txBody>
          <a:bodyPr wrap="square" anchor="t">
            <a:spAutoFit/>
          </a:bodyPr>
          <a:lstStyle/>
          <a:p>
            <a:pPr algn="l"/>
            <a:r>
              <a:rPr sz="1200" b="0" i="0">
                <a:solidFill>
                  <a:srgbClr val="F8FAFC"/>
                </a:solidFill>
                <a:latin typeface="Calibri"/>
              </a:rPr>
              <a:t>An early-stage startup employee who handles ads as one of many responsibilities. Needs to ship variants fast without learning four creative tools.</a:t>
            </a:r>
          </a:p>
        </p:txBody>
      </p:sp>
      <p:sp>
        <p:nvSpPr>
          <p:cNvPr id="14" name="TextBox 13"/>
          <p:cNvSpPr txBox="1"/>
          <p:nvPr/>
        </p:nvSpPr>
        <p:spPr>
          <a:xfrm>
            <a:off x="914400" y="6126480"/>
            <a:ext cx="10332720" cy="365760"/>
          </a:xfrm>
          <a:prstGeom prst="rect">
            <a:avLst/>
          </a:prstGeom>
          <a:noFill/>
        </p:spPr>
        <p:txBody>
          <a:bodyPr wrap="square" anchor="t">
            <a:spAutoFit/>
          </a:bodyPr>
          <a:lstStyle/>
          <a:p>
            <a:pPr algn="ctr"/>
            <a:r>
              <a:rPr sz="1200" b="0" i="1">
                <a:solidFill>
                  <a:srgbClr val="94A3B8"/>
                </a:solidFill>
                <a:latin typeface="Calibri"/>
              </a:rPr>
              <a:t>None can justify an agency budget; all need to ship more ads, more often.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1698</Words>
  <Application>Microsoft Macintosh PowerPoint</Application>
  <PresentationFormat>Widescreen</PresentationFormat>
  <Paragraphs>134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Vlad Dumitru</cp:lastModifiedBy>
  <cp:revision>2</cp:revision>
  <dcterms:created xsi:type="dcterms:W3CDTF">2013-01-27T09:14:16Z</dcterms:created>
  <dcterms:modified xsi:type="dcterms:W3CDTF">2026-06-27T14:05:57Z</dcterms:modified>
  <cp:category/>
</cp:coreProperties>
</file>